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2" r:id="rId5"/>
    <p:sldId id="259" r:id="rId6"/>
    <p:sldId id="260" r:id="rId7"/>
    <p:sldId id="265" r:id="rId8"/>
    <p:sldId id="264" r:id="rId9"/>
    <p:sldId id="261" r:id="rId10"/>
    <p:sldId id="266" r:id="rId11"/>
    <p:sldId id="268"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88"/>
    <p:restoredTop sz="94558"/>
  </p:normalViewPr>
  <p:slideViewPr>
    <p:cSldViewPr snapToGrid="0">
      <p:cViewPr varScale="1">
        <p:scale>
          <a:sx n="121" d="100"/>
          <a:sy n="121" d="100"/>
        </p:scale>
        <p:origin x="1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0"/>
          <c:showBubbleSize val="0"/>
          <c:showLeaderLines val="0"/>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A75558-2A91-4794-96E4-8A235CD035D5}"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6EAC7457-FFA0-401C-8F64-4D3B6DF5BFA6}">
      <dgm:prSet/>
      <dgm:spPr/>
      <dgm:t>
        <a:bodyPr/>
        <a:lstStyle/>
        <a:p>
          <a:r>
            <a:rPr lang="en-US" dirty="0"/>
            <a:t>Which program offices are most effective in engaging a diverse range of participants? </a:t>
          </a:r>
        </a:p>
      </dgm:t>
    </dgm:pt>
    <dgm:pt modelId="{DE53AA48-8AC2-4E95-9A01-4497EDD49920}" type="parTrans" cxnId="{0B38E722-877B-4FF8-BAEA-941F5C2EBF80}">
      <dgm:prSet/>
      <dgm:spPr/>
      <dgm:t>
        <a:bodyPr/>
        <a:lstStyle/>
        <a:p>
          <a:endParaRPr lang="en-US"/>
        </a:p>
      </dgm:t>
    </dgm:pt>
    <dgm:pt modelId="{9D9CCD66-B7E7-4D09-8FE9-021D47862B6D}" type="sibTrans" cxnId="{0B38E722-877B-4FF8-BAEA-941F5C2EBF80}">
      <dgm:prSet/>
      <dgm:spPr/>
      <dgm:t>
        <a:bodyPr/>
        <a:lstStyle/>
        <a:p>
          <a:endParaRPr lang="en-US"/>
        </a:p>
      </dgm:t>
    </dgm:pt>
    <dgm:pt modelId="{6BE1F448-E3C3-4EC0-B587-21F769512DA9}">
      <dgm:prSet/>
      <dgm:spPr/>
      <dgm:t>
        <a:bodyPr/>
        <a:lstStyle/>
        <a:p>
          <a:r>
            <a:rPr lang="en-US" dirty="0"/>
            <a:t>How does the representation of different demographic groups compare to their proportions in the general population? </a:t>
          </a:r>
        </a:p>
      </dgm:t>
    </dgm:pt>
    <dgm:pt modelId="{EE252077-D150-47AE-87D5-443271E109EF}" type="parTrans" cxnId="{768A4D94-2EC9-46B4-9BEE-3D8867CFAF9C}">
      <dgm:prSet/>
      <dgm:spPr/>
      <dgm:t>
        <a:bodyPr/>
        <a:lstStyle/>
        <a:p>
          <a:endParaRPr lang="en-US"/>
        </a:p>
      </dgm:t>
    </dgm:pt>
    <dgm:pt modelId="{08A56BF1-27B1-474C-B122-ADCCFB2E6DC9}" type="sibTrans" cxnId="{768A4D94-2EC9-46B4-9BEE-3D8867CFAF9C}">
      <dgm:prSet/>
      <dgm:spPr/>
      <dgm:t>
        <a:bodyPr/>
        <a:lstStyle/>
        <a:p>
          <a:endParaRPr lang="en-US"/>
        </a:p>
      </dgm:t>
    </dgm:pt>
    <dgm:pt modelId="{24EEF010-E3A7-4B9A-822C-58BB2D7091B7}">
      <dgm:prSet/>
      <dgm:spPr/>
      <dgm:t>
        <a:bodyPr/>
        <a:lstStyle/>
        <a:p>
          <a:r>
            <a:rPr lang="en-US" dirty="0"/>
            <a:t>Which groups are overrepresented or underrepresented in AmeriCorps? </a:t>
          </a:r>
        </a:p>
      </dgm:t>
    </dgm:pt>
    <dgm:pt modelId="{3795C511-E605-4A88-BBB5-BFF9371E1445}" type="parTrans" cxnId="{35552DFF-5261-4DDB-ADC0-DDC2822DA475}">
      <dgm:prSet/>
      <dgm:spPr/>
      <dgm:t>
        <a:bodyPr/>
        <a:lstStyle/>
        <a:p>
          <a:endParaRPr lang="en-US"/>
        </a:p>
      </dgm:t>
    </dgm:pt>
    <dgm:pt modelId="{1F5A9BFF-2C57-40B3-928F-586E56108578}" type="sibTrans" cxnId="{35552DFF-5261-4DDB-ADC0-DDC2822DA475}">
      <dgm:prSet/>
      <dgm:spPr/>
      <dgm:t>
        <a:bodyPr/>
        <a:lstStyle/>
        <a:p>
          <a:endParaRPr lang="en-US"/>
        </a:p>
      </dgm:t>
    </dgm:pt>
    <dgm:pt modelId="{30C9B5A2-3178-463F-A074-FAF9DF1E64D9}">
      <dgm:prSet/>
      <dgm:spPr/>
      <dgm:t>
        <a:bodyPr/>
        <a:lstStyle/>
        <a:p>
          <a:r>
            <a:rPr lang="en-US" dirty="0"/>
            <a:t>How do participation rates compare between different programs within the same service region? </a:t>
          </a:r>
        </a:p>
      </dgm:t>
    </dgm:pt>
    <dgm:pt modelId="{A5AE448F-C380-4B5A-BC52-B98494906160}" type="parTrans" cxnId="{0F7B031B-1096-403B-A43C-35CD09B6A964}">
      <dgm:prSet/>
      <dgm:spPr/>
      <dgm:t>
        <a:bodyPr/>
        <a:lstStyle/>
        <a:p>
          <a:endParaRPr lang="en-US"/>
        </a:p>
      </dgm:t>
    </dgm:pt>
    <dgm:pt modelId="{71C87C73-33C1-489B-8C54-E306FEE96F4B}" type="sibTrans" cxnId="{0F7B031B-1096-403B-A43C-35CD09B6A964}">
      <dgm:prSet/>
      <dgm:spPr/>
      <dgm:t>
        <a:bodyPr/>
        <a:lstStyle/>
        <a:p>
          <a:endParaRPr lang="en-US"/>
        </a:p>
      </dgm:t>
    </dgm:pt>
    <dgm:pt modelId="{EB46AF44-BC0C-4D74-A7C0-7789902875CD}">
      <dgm:prSet/>
      <dgm:spPr/>
      <dgm:t>
        <a:bodyPr/>
        <a:lstStyle/>
        <a:p>
          <a:r>
            <a:rPr lang="en-US" dirty="0"/>
            <a:t>What is the racial composition of the volunteers? </a:t>
          </a:r>
        </a:p>
      </dgm:t>
    </dgm:pt>
    <dgm:pt modelId="{187EB187-C710-430F-A9B9-7FF5446363BF}" type="parTrans" cxnId="{9E759B66-715F-4E7A-8EAA-C09C760D4944}">
      <dgm:prSet/>
      <dgm:spPr/>
      <dgm:t>
        <a:bodyPr/>
        <a:lstStyle/>
        <a:p>
          <a:endParaRPr lang="en-US"/>
        </a:p>
      </dgm:t>
    </dgm:pt>
    <dgm:pt modelId="{1E87161D-774D-4F01-B8BE-3939316ECE66}" type="sibTrans" cxnId="{9E759B66-715F-4E7A-8EAA-C09C760D4944}">
      <dgm:prSet/>
      <dgm:spPr/>
      <dgm:t>
        <a:bodyPr/>
        <a:lstStyle/>
        <a:p>
          <a:endParaRPr lang="en-US"/>
        </a:p>
      </dgm:t>
    </dgm:pt>
    <dgm:pt modelId="{3D448B3C-F6AA-4EE9-8FAD-EE904AE46D4D}">
      <dgm:prSet/>
      <dgm:spPr/>
      <dgm:t>
        <a:bodyPr/>
        <a:lstStyle/>
        <a:p>
          <a:r>
            <a:rPr lang="en-US" dirty="0"/>
            <a:t>Are some racial groups more engaged in volunteer activities within specific states? </a:t>
          </a:r>
        </a:p>
      </dgm:t>
    </dgm:pt>
    <dgm:pt modelId="{39678B51-300E-49AF-9882-E99406A12AF0}" type="parTrans" cxnId="{93B309D6-813F-4F78-ACAE-2DCA59D7361C}">
      <dgm:prSet/>
      <dgm:spPr/>
      <dgm:t>
        <a:bodyPr/>
        <a:lstStyle/>
        <a:p>
          <a:endParaRPr lang="en-US"/>
        </a:p>
      </dgm:t>
    </dgm:pt>
    <dgm:pt modelId="{9E28FB94-1F10-46E1-ACAF-182EC0BF2449}" type="sibTrans" cxnId="{93B309D6-813F-4F78-ACAE-2DCA59D7361C}">
      <dgm:prSet/>
      <dgm:spPr/>
      <dgm:t>
        <a:bodyPr/>
        <a:lstStyle/>
        <a:p>
          <a:endParaRPr lang="en-US"/>
        </a:p>
      </dgm:t>
    </dgm:pt>
    <dgm:pt modelId="{F0557D5D-14B0-A34F-B751-C4FD0706FCED}" type="pres">
      <dgm:prSet presAssocID="{D7A75558-2A91-4794-96E4-8A235CD035D5}" presName="diagram" presStyleCnt="0">
        <dgm:presLayoutVars>
          <dgm:dir/>
          <dgm:resizeHandles val="exact"/>
        </dgm:presLayoutVars>
      </dgm:prSet>
      <dgm:spPr/>
    </dgm:pt>
    <dgm:pt modelId="{140C1881-6713-344D-9FC9-F6D8E8C6FE3A}" type="pres">
      <dgm:prSet presAssocID="{EB46AF44-BC0C-4D74-A7C0-7789902875CD}" presName="node" presStyleLbl="node1" presStyleIdx="0" presStyleCnt="6">
        <dgm:presLayoutVars>
          <dgm:bulletEnabled val="1"/>
        </dgm:presLayoutVars>
      </dgm:prSet>
      <dgm:spPr/>
    </dgm:pt>
    <dgm:pt modelId="{4BBAE651-B5E3-3242-89BD-E1D6828A728D}" type="pres">
      <dgm:prSet presAssocID="{1E87161D-774D-4F01-B8BE-3939316ECE66}" presName="sibTrans" presStyleCnt="0"/>
      <dgm:spPr/>
    </dgm:pt>
    <dgm:pt modelId="{7841ACC1-79AE-494F-B2E6-92FD9D40CD26}" type="pres">
      <dgm:prSet presAssocID="{3D448B3C-F6AA-4EE9-8FAD-EE904AE46D4D}" presName="node" presStyleLbl="node1" presStyleIdx="1" presStyleCnt="6">
        <dgm:presLayoutVars>
          <dgm:bulletEnabled val="1"/>
        </dgm:presLayoutVars>
      </dgm:prSet>
      <dgm:spPr/>
    </dgm:pt>
    <dgm:pt modelId="{BE5D58D6-7168-B94E-82F9-9D40B66A0C03}" type="pres">
      <dgm:prSet presAssocID="{9E28FB94-1F10-46E1-ACAF-182EC0BF2449}" presName="sibTrans" presStyleCnt="0"/>
      <dgm:spPr/>
    </dgm:pt>
    <dgm:pt modelId="{8147F015-1415-C14E-BBFE-BE7576D964C9}" type="pres">
      <dgm:prSet presAssocID="{6EAC7457-FFA0-401C-8F64-4D3B6DF5BFA6}" presName="node" presStyleLbl="node1" presStyleIdx="2" presStyleCnt="6">
        <dgm:presLayoutVars>
          <dgm:bulletEnabled val="1"/>
        </dgm:presLayoutVars>
      </dgm:prSet>
      <dgm:spPr/>
    </dgm:pt>
    <dgm:pt modelId="{882B692F-2ACC-4643-A13C-5FFBD8B45319}" type="pres">
      <dgm:prSet presAssocID="{9D9CCD66-B7E7-4D09-8FE9-021D47862B6D}" presName="sibTrans" presStyleCnt="0"/>
      <dgm:spPr/>
    </dgm:pt>
    <dgm:pt modelId="{20D40851-767D-4F42-A803-562DD3620BD6}" type="pres">
      <dgm:prSet presAssocID="{30C9B5A2-3178-463F-A074-FAF9DF1E64D9}" presName="node" presStyleLbl="node1" presStyleIdx="3" presStyleCnt="6">
        <dgm:presLayoutVars>
          <dgm:bulletEnabled val="1"/>
        </dgm:presLayoutVars>
      </dgm:prSet>
      <dgm:spPr/>
    </dgm:pt>
    <dgm:pt modelId="{DCEB0B25-F4A8-5143-B2DC-7A69C8A0F76A}" type="pres">
      <dgm:prSet presAssocID="{71C87C73-33C1-489B-8C54-E306FEE96F4B}" presName="sibTrans" presStyleCnt="0"/>
      <dgm:spPr/>
    </dgm:pt>
    <dgm:pt modelId="{A3EF6C9D-2F66-264F-B119-63001DD44078}" type="pres">
      <dgm:prSet presAssocID="{6BE1F448-E3C3-4EC0-B587-21F769512DA9}" presName="node" presStyleLbl="node1" presStyleIdx="4" presStyleCnt="6">
        <dgm:presLayoutVars>
          <dgm:bulletEnabled val="1"/>
        </dgm:presLayoutVars>
      </dgm:prSet>
      <dgm:spPr/>
    </dgm:pt>
    <dgm:pt modelId="{5F29973C-43DA-B949-BD05-E133522AF9CD}" type="pres">
      <dgm:prSet presAssocID="{08A56BF1-27B1-474C-B122-ADCCFB2E6DC9}" presName="sibTrans" presStyleCnt="0"/>
      <dgm:spPr/>
    </dgm:pt>
    <dgm:pt modelId="{984EE22B-BD1B-124C-8930-2A741E92D1B2}" type="pres">
      <dgm:prSet presAssocID="{24EEF010-E3A7-4B9A-822C-58BB2D7091B7}" presName="node" presStyleLbl="node1" presStyleIdx="5" presStyleCnt="6">
        <dgm:presLayoutVars>
          <dgm:bulletEnabled val="1"/>
        </dgm:presLayoutVars>
      </dgm:prSet>
      <dgm:spPr/>
    </dgm:pt>
  </dgm:ptLst>
  <dgm:cxnLst>
    <dgm:cxn modelId="{0F7B031B-1096-403B-A43C-35CD09B6A964}" srcId="{D7A75558-2A91-4794-96E4-8A235CD035D5}" destId="{30C9B5A2-3178-463F-A074-FAF9DF1E64D9}" srcOrd="3" destOrd="0" parTransId="{A5AE448F-C380-4B5A-BC52-B98494906160}" sibTransId="{71C87C73-33C1-489B-8C54-E306FEE96F4B}"/>
    <dgm:cxn modelId="{0B38E722-877B-4FF8-BAEA-941F5C2EBF80}" srcId="{D7A75558-2A91-4794-96E4-8A235CD035D5}" destId="{6EAC7457-FFA0-401C-8F64-4D3B6DF5BFA6}" srcOrd="2" destOrd="0" parTransId="{DE53AA48-8AC2-4E95-9A01-4497EDD49920}" sibTransId="{9D9CCD66-B7E7-4D09-8FE9-021D47862B6D}"/>
    <dgm:cxn modelId="{0F262639-7B50-5545-945D-B36F015B1939}" type="presOf" srcId="{6BE1F448-E3C3-4EC0-B587-21F769512DA9}" destId="{A3EF6C9D-2F66-264F-B119-63001DD44078}" srcOrd="0" destOrd="0" presId="urn:microsoft.com/office/officeart/2005/8/layout/default"/>
    <dgm:cxn modelId="{9E759B66-715F-4E7A-8EAA-C09C760D4944}" srcId="{D7A75558-2A91-4794-96E4-8A235CD035D5}" destId="{EB46AF44-BC0C-4D74-A7C0-7789902875CD}" srcOrd="0" destOrd="0" parTransId="{187EB187-C710-430F-A9B9-7FF5446363BF}" sibTransId="{1E87161D-774D-4F01-B8BE-3939316ECE66}"/>
    <dgm:cxn modelId="{F1A79A80-CA7E-0D45-9A7F-A2B74EED2043}" type="presOf" srcId="{24EEF010-E3A7-4B9A-822C-58BB2D7091B7}" destId="{984EE22B-BD1B-124C-8930-2A741E92D1B2}" srcOrd="0" destOrd="0" presId="urn:microsoft.com/office/officeart/2005/8/layout/default"/>
    <dgm:cxn modelId="{B0CB8B84-895F-1A4B-AD5A-A863B3BCC36A}" type="presOf" srcId="{D7A75558-2A91-4794-96E4-8A235CD035D5}" destId="{F0557D5D-14B0-A34F-B751-C4FD0706FCED}" srcOrd="0" destOrd="0" presId="urn:microsoft.com/office/officeart/2005/8/layout/default"/>
    <dgm:cxn modelId="{768A4D94-2EC9-46B4-9BEE-3D8867CFAF9C}" srcId="{D7A75558-2A91-4794-96E4-8A235CD035D5}" destId="{6BE1F448-E3C3-4EC0-B587-21F769512DA9}" srcOrd="4" destOrd="0" parTransId="{EE252077-D150-47AE-87D5-443271E109EF}" sibTransId="{08A56BF1-27B1-474C-B122-ADCCFB2E6DC9}"/>
    <dgm:cxn modelId="{545A4BA6-AB3E-3742-8383-14375A00FD15}" type="presOf" srcId="{30C9B5A2-3178-463F-A074-FAF9DF1E64D9}" destId="{20D40851-767D-4F42-A803-562DD3620BD6}" srcOrd="0" destOrd="0" presId="urn:microsoft.com/office/officeart/2005/8/layout/default"/>
    <dgm:cxn modelId="{F0ABB2AD-9376-2047-B81E-E1F49005B451}" type="presOf" srcId="{3D448B3C-F6AA-4EE9-8FAD-EE904AE46D4D}" destId="{7841ACC1-79AE-494F-B2E6-92FD9D40CD26}" srcOrd="0" destOrd="0" presId="urn:microsoft.com/office/officeart/2005/8/layout/default"/>
    <dgm:cxn modelId="{75F44FD1-8E39-E946-969C-F11066A629CE}" type="presOf" srcId="{6EAC7457-FFA0-401C-8F64-4D3B6DF5BFA6}" destId="{8147F015-1415-C14E-BBFE-BE7576D964C9}" srcOrd="0" destOrd="0" presId="urn:microsoft.com/office/officeart/2005/8/layout/default"/>
    <dgm:cxn modelId="{93B309D6-813F-4F78-ACAE-2DCA59D7361C}" srcId="{D7A75558-2A91-4794-96E4-8A235CD035D5}" destId="{3D448B3C-F6AA-4EE9-8FAD-EE904AE46D4D}" srcOrd="1" destOrd="0" parTransId="{39678B51-300E-49AF-9882-E99406A12AF0}" sibTransId="{9E28FB94-1F10-46E1-ACAF-182EC0BF2449}"/>
    <dgm:cxn modelId="{4DF468EB-A529-544B-9EF1-0A8E54758941}" type="presOf" srcId="{EB46AF44-BC0C-4D74-A7C0-7789902875CD}" destId="{140C1881-6713-344D-9FC9-F6D8E8C6FE3A}" srcOrd="0" destOrd="0" presId="urn:microsoft.com/office/officeart/2005/8/layout/default"/>
    <dgm:cxn modelId="{35552DFF-5261-4DDB-ADC0-DDC2822DA475}" srcId="{D7A75558-2A91-4794-96E4-8A235CD035D5}" destId="{24EEF010-E3A7-4B9A-822C-58BB2D7091B7}" srcOrd="5" destOrd="0" parTransId="{3795C511-E605-4A88-BBB5-BFF9371E1445}" sibTransId="{1F5A9BFF-2C57-40B3-928F-586E56108578}"/>
    <dgm:cxn modelId="{3931395E-67E0-6E42-BDF5-17A4283B7460}" type="presParOf" srcId="{F0557D5D-14B0-A34F-B751-C4FD0706FCED}" destId="{140C1881-6713-344D-9FC9-F6D8E8C6FE3A}" srcOrd="0" destOrd="0" presId="urn:microsoft.com/office/officeart/2005/8/layout/default"/>
    <dgm:cxn modelId="{12E73A93-DC86-994C-9D81-620506D8DFB1}" type="presParOf" srcId="{F0557D5D-14B0-A34F-B751-C4FD0706FCED}" destId="{4BBAE651-B5E3-3242-89BD-E1D6828A728D}" srcOrd="1" destOrd="0" presId="urn:microsoft.com/office/officeart/2005/8/layout/default"/>
    <dgm:cxn modelId="{4580BF7B-104B-8948-B631-83F81BD39CD1}" type="presParOf" srcId="{F0557D5D-14B0-A34F-B751-C4FD0706FCED}" destId="{7841ACC1-79AE-494F-B2E6-92FD9D40CD26}" srcOrd="2" destOrd="0" presId="urn:microsoft.com/office/officeart/2005/8/layout/default"/>
    <dgm:cxn modelId="{91F60600-1C9E-FC45-AF5B-1445A1A2AC67}" type="presParOf" srcId="{F0557D5D-14B0-A34F-B751-C4FD0706FCED}" destId="{BE5D58D6-7168-B94E-82F9-9D40B66A0C03}" srcOrd="3" destOrd="0" presId="urn:microsoft.com/office/officeart/2005/8/layout/default"/>
    <dgm:cxn modelId="{81729C06-CAAB-F347-A96B-EBC09A216BD3}" type="presParOf" srcId="{F0557D5D-14B0-A34F-B751-C4FD0706FCED}" destId="{8147F015-1415-C14E-BBFE-BE7576D964C9}" srcOrd="4" destOrd="0" presId="urn:microsoft.com/office/officeart/2005/8/layout/default"/>
    <dgm:cxn modelId="{88884498-3EB9-194D-9C2A-08378E9B2B82}" type="presParOf" srcId="{F0557D5D-14B0-A34F-B751-C4FD0706FCED}" destId="{882B692F-2ACC-4643-A13C-5FFBD8B45319}" srcOrd="5" destOrd="0" presId="urn:microsoft.com/office/officeart/2005/8/layout/default"/>
    <dgm:cxn modelId="{C8BEA146-35CD-7940-94DD-6CD37E303BF5}" type="presParOf" srcId="{F0557D5D-14B0-A34F-B751-C4FD0706FCED}" destId="{20D40851-767D-4F42-A803-562DD3620BD6}" srcOrd="6" destOrd="0" presId="urn:microsoft.com/office/officeart/2005/8/layout/default"/>
    <dgm:cxn modelId="{EBD14253-C600-FA4B-8CBB-DAF75D67D83A}" type="presParOf" srcId="{F0557D5D-14B0-A34F-B751-C4FD0706FCED}" destId="{DCEB0B25-F4A8-5143-B2DC-7A69C8A0F76A}" srcOrd="7" destOrd="0" presId="urn:microsoft.com/office/officeart/2005/8/layout/default"/>
    <dgm:cxn modelId="{F31E8325-9652-3A47-BF6F-28C348D97E1C}" type="presParOf" srcId="{F0557D5D-14B0-A34F-B751-C4FD0706FCED}" destId="{A3EF6C9D-2F66-264F-B119-63001DD44078}" srcOrd="8" destOrd="0" presId="urn:microsoft.com/office/officeart/2005/8/layout/default"/>
    <dgm:cxn modelId="{1F20CE97-C6F7-E64E-8528-50E4CF2C8321}" type="presParOf" srcId="{F0557D5D-14B0-A34F-B751-C4FD0706FCED}" destId="{5F29973C-43DA-B949-BD05-E133522AF9CD}" srcOrd="9" destOrd="0" presId="urn:microsoft.com/office/officeart/2005/8/layout/default"/>
    <dgm:cxn modelId="{A6038FBD-B059-8942-9A07-FA065902F48E}" type="presParOf" srcId="{F0557D5D-14B0-A34F-B751-C4FD0706FCED}" destId="{984EE22B-BD1B-124C-8930-2A741E92D1B2}"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98C548-BA78-4773-826D-D67EEC85DC2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A9D11C59-9B34-44F5-808D-153665E05956}">
      <dgm:prSet/>
      <dgm:spPr/>
      <dgm:t>
        <a:bodyPr/>
        <a:lstStyle/>
        <a:p>
          <a:r>
            <a:rPr lang="en-US" dirty="0"/>
            <a:t>AmeriCorps consists of </a:t>
          </a:r>
        </a:p>
      </dgm:t>
    </dgm:pt>
    <dgm:pt modelId="{091B6177-FCC5-4288-9CC7-F0F7CE8AB5B3}" type="parTrans" cxnId="{9A494C5A-BCA7-49F5-9A33-42F61D4EACF6}">
      <dgm:prSet/>
      <dgm:spPr/>
      <dgm:t>
        <a:bodyPr/>
        <a:lstStyle/>
        <a:p>
          <a:endParaRPr lang="en-US"/>
        </a:p>
      </dgm:t>
    </dgm:pt>
    <dgm:pt modelId="{DFC443E8-7DCE-4A86-99A0-8DDA44F80648}" type="sibTrans" cxnId="{9A494C5A-BCA7-49F5-9A33-42F61D4EACF6}">
      <dgm:prSet/>
      <dgm:spPr/>
      <dgm:t>
        <a:bodyPr/>
        <a:lstStyle/>
        <a:p>
          <a:endParaRPr lang="en-US"/>
        </a:p>
      </dgm:t>
    </dgm:pt>
    <dgm:pt modelId="{E0B4AEC9-97E8-4024-A40E-CC2A1DA1E2BD}">
      <dgm:prSet/>
      <dgm:spPr/>
      <dgm:t>
        <a:bodyPr/>
        <a:lstStyle/>
        <a:p>
          <a:r>
            <a:rPr lang="en-US" dirty="0"/>
            <a:t>AmeriCorps aims for its volunteers to be representative both of the nation and of the communities it serves</a:t>
          </a:r>
        </a:p>
      </dgm:t>
    </dgm:pt>
    <dgm:pt modelId="{F6E392B6-EA31-4B02-A933-C5ADC4EF93BE}" type="parTrans" cxnId="{F4AA2BE5-FD24-45A7-9A94-AD2C8AD26E03}">
      <dgm:prSet/>
      <dgm:spPr/>
      <dgm:t>
        <a:bodyPr/>
        <a:lstStyle/>
        <a:p>
          <a:endParaRPr lang="en-US"/>
        </a:p>
      </dgm:t>
    </dgm:pt>
    <dgm:pt modelId="{FA80EB24-C84F-498F-9277-583944927CC2}" type="sibTrans" cxnId="{F4AA2BE5-FD24-45A7-9A94-AD2C8AD26E03}">
      <dgm:prSet/>
      <dgm:spPr/>
      <dgm:t>
        <a:bodyPr/>
        <a:lstStyle/>
        <a:p>
          <a:endParaRPr lang="en-US"/>
        </a:p>
      </dgm:t>
    </dgm:pt>
    <dgm:pt modelId="{1AC7B2F4-7DC6-4780-96A1-07A2A35F7DB7}">
      <dgm:prSet/>
      <dgm:spPr/>
      <dgm:t>
        <a:bodyPr/>
        <a:lstStyle/>
        <a:p>
          <a:r>
            <a:rPr lang="en-US"/>
            <a:t>The data seems to indicate it is not quite reflective</a:t>
          </a:r>
        </a:p>
      </dgm:t>
    </dgm:pt>
    <dgm:pt modelId="{6620B908-D6F8-4AD9-8873-602E8083F944}" type="parTrans" cxnId="{A8796E0A-B3DB-4B4F-8741-AFB3C5CAD84B}">
      <dgm:prSet/>
      <dgm:spPr/>
      <dgm:t>
        <a:bodyPr/>
        <a:lstStyle/>
        <a:p>
          <a:endParaRPr lang="en-US"/>
        </a:p>
      </dgm:t>
    </dgm:pt>
    <dgm:pt modelId="{FCC4BAFB-102A-4115-A91A-68FF6DBAC1D6}" type="sibTrans" cxnId="{A8796E0A-B3DB-4B4F-8741-AFB3C5CAD84B}">
      <dgm:prSet/>
      <dgm:spPr/>
      <dgm:t>
        <a:bodyPr/>
        <a:lstStyle/>
        <a:p>
          <a:endParaRPr lang="en-US"/>
        </a:p>
      </dgm:t>
    </dgm:pt>
    <dgm:pt modelId="{1DFA45C6-29A1-044E-909D-BFD44D26A1BE}" type="pres">
      <dgm:prSet presAssocID="{F998C548-BA78-4773-826D-D67EEC85DC2F}" presName="hierChild1" presStyleCnt="0">
        <dgm:presLayoutVars>
          <dgm:chPref val="1"/>
          <dgm:dir/>
          <dgm:animOne val="branch"/>
          <dgm:animLvl val="lvl"/>
          <dgm:resizeHandles/>
        </dgm:presLayoutVars>
      </dgm:prSet>
      <dgm:spPr/>
    </dgm:pt>
    <dgm:pt modelId="{8486B3C5-CCD5-BA40-9E53-8A20F40FC66C}" type="pres">
      <dgm:prSet presAssocID="{A9D11C59-9B34-44F5-808D-153665E05956}" presName="hierRoot1" presStyleCnt="0"/>
      <dgm:spPr/>
    </dgm:pt>
    <dgm:pt modelId="{AE3CCA94-30C7-8740-9C17-1493E477E371}" type="pres">
      <dgm:prSet presAssocID="{A9D11C59-9B34-44F5-808D-153665E05956}" presName="composite" presStyleCnt="0"/>
      <dgm:spPr/>
    </dgm:pt>
    <dgm:pt modelId="{AA68ADCC-7E87-2F4F-91F7-F58707500C1B}" type="pres">
      <dgm:prSet presAssocID="{A9D11C59-9B34-44F5-808D-153665E05956}" presName="background" presStyleLbl="node0" presStyleIdx="0" presStyleCnt="3"/>
      <dgm:spPr/>
    </dgm:pt>
    <dgm:pt modelId="{A95AA38C-F4CE-4149-BDA0-D45CAD85FED6}" type="pres">
      <dgm:prSet presAssocID="{A9D11C59-9B34-44F5-808D-153665E05956}" presName="text" presStyleLbl="fgAcc0" presStyleIdx="0" presStyleCnt="3">
        <dgm:presLayoutVars>
          <dgm:chPref val="3"/>
        </dgm:presLayoutVars>
      </dgm:prSet>
      <dgm:spPr/>
    </dgm:pt>
    <dgm:pt modelId="{58456125-F8C3-F44B-A752-4BB94D4CE626}" type="pres">
      <dgm:prSet presAssocID="{A9D11C59-9B34-44F5-808D-153665E05956}" presName="hierChild2" presStyleCnt="0"/>
      <dgm:spPr/>
    </dgm:pt>
    <dgm:pt modelId="{9A514AC9-387C-744C-9C40-C6D989AF317B}" type="pres">
      <dgm:prSet presAssocID="{E0B4AEC9-97E8-4024-A40E-CC2A1DA1E2BD}" presName="hierRoot1" presStyleCnt="0"/>
      <dgm:spPr/>
    </dgm:pt>
    <dgm:pt modelId="{DCA534B2-2841-394E-A1F2-B11AB44DD3D4}" type="pres">
      <dgm:prSet presAssocID="{E0B4AEC9-97E8-4024-A40E-CC2A1DA1E2BD}" presName="composite" presStyleCnt="0"/>
      <dgm:spPr/>
    </dgm:pt>
    <dgm:pt modelId="{48450776-B67F-1D4B-9872-F552C1CA04AD}" type="pres">
      <dgm:prSet presAssocID="{E0B4AEC9-97E8-4024-A40E-CC2A1DA1E2BD}" presName="background" presStyleLbl="node0" presStyleIdx="1" presStyleCnt="3"/>
      <dgm:spPr/>
    </dgm:pt>
    <dgm:pt modelId="{88E4D484-02A0-0243-9E50-51F5AB434A48}" type="pres">
      <dgm:prSet presAssocID="{E0B4AEC9-97E8-4024-A40E-CC2A1DA1E2BD}" presName="text" presStyleLbl="fgAcc0" presStyleIdx="1" presStyleCnt="3">
        <dgm:presLayoutVars>
          <dgm:chPref val="3"/>
        </dgm:presLayoutVars>
      </dgm:prSet>
      <dgm:spPr/>
    </dgm:pt>
    <dgm:pt modelId="{853FB8D2-83D8-E84D-ADBF-7D0ECDFB2DE1}" type="pres">
      <dgm:prSet presAssocID="{E0B4AEC9-97E8-4024-A40E-CC2A1DA1E2BD}" presName="hierChild2" presStyleCnt="0"/>
      <dgm:spPr/>
    </dgm:pt>
    <dgm:pt modelId="{81949835-0B4F-F744-B808-BD0A92E95F4C}" type="pres">
      <dgm:prSet presAssocID="{1AC7B2F4-7DC6-4780-96A1-07A2A35F7DB7}" presName="hierRoot1" presStyleCnt="0"/>
      <dgm:spPr/>
    </dgm:pt>
    <dgm:pt modelId="{03C9A3F9-EBC7-8246-AF5B-5B19E81A83FC}" type="pres">
      <dgm:prSet presAssocID="{1AC7B2F4-7DC6-4780-96A1-07A2A35F7DB7}" presName="composite" presStyleCnt="0"/>
      <dgm:spPr/>
    </dgm:pt>
    <dgm:pt modelId="{87665FC5-60E4-8746-90E3-A53C4ACFE3CA}" type="pres">
      <dgm:prSet presAssocID="{1AC7B2F4-7DC6-4780-96A1-07A2A35F7DB7}" presName="background" presStyleLbl="node0" presStyleIdx="2" presStyleCnt="3"/>
      <dgm:spPr/>
    </dgm:pt>
    <dgm:pt modelId="{5E94A23F-919B-7B41-A4ED-1324ADFDEAE8}" type="pres">
      <dgm:prSet presAssocID="{1AC7B2F4-7DC6-4780-96A1-07A2A35F7DB7}" presName="text" presStyleLbl="fgAcc0" presStyleIdx="2" presStyleCnt="3">
        <dgm:presLayoutVars>
          <dgm:chPref val="3"/>
        </dgm:presLayoutVars>
      </dgm:prSet>
      <dgm:spPr/>
    </dgm:pt>
    <dgm:pt modelId="{8D0E419E-430B-0D47-BE2D-034A82690D81}" type="pres">
      <dgm:prSet presAssocID="{1AC7B2F4-7DC6-4780-96A1-07A2A35F7DB7}" presName="hierChild2" presStyleCnt="0"/>
      <dgm:spPr/>
    </dgm:pt>
  </dgm:ptLst>
  <dgm:cxnLst>
    <dgm:cxn modelId="{A8796E0A-B3DB-4B4F-8741-AFB3C5CAD84B}" srcId="{F998C548-BA78-4773-826D-D67EEC85DC2F}" destId="{1AC7B2F4-7DC6-4780-96A1-07A2A35F7DB7}" srcOrd="2" destOrd="0" parTransId="{6620B908-D6F8-4AD9-8873-602E8083F944}" sibTransId="{FCC4BAFB-102A-4115-A91A-68FF6DBAC1D6}"/>
    <dgm:cxn modelId="{E119FE52-BDB5-F140-BA88-539B1EC0C9DF}" type="presOf" srcId="{A9D11C59-9B34-44F5-808D-153665E05956}" destId="{A95AA38C-F4CE-4149-BDA0-D45CAD85FED6}" srcOrd="0" destOrd="0" presId="urn:microsoft.com/office/officeart/2005/8/layout/hierarchy1"/>
    <dgm:cxn modelId="{9A494C5A-BCA7-49F5-9A33-42F61D4EACF6}" srcId="{F998C548-BA78-4773-826D-D67EEC85DC2F}" destId="{A9D11C59-9B34-44F5-808D-153665E05956}" srcOrd="0" destOrd="0" parTransId="{091B6177-FCC5-4288-9CC7-F0F7CE8AB5B3}" sibTransId="{DFC443E8-7DCE-4A86-99A0-8DDA44F80648}"/>
    <dgm:cxn modelId="{93C67979-15FC-3A4B-98EC-B0C1B7549A7C}" type="presOf" srcId="{F998C548-BA78-4773-826D-D67EEC85DC2F}" destId="{1DFA45C6-29A1-044E-909D-BFD44D26A1BE}" srcOrd="0" destOrd="0" presId="urn:microsoft.com/office/officeart/2005/8/layout/hierarchy1"/>
    <dgm:cxn modelId="{17C5BCA3-F0D9-8840-9096-9B880FA48EAA}" type="presOf" srcId="{1AC7B2F4-7DC6-4780-96A1-07A2A35F7DB7}" destId="{5E94A23F-919B-7B41-A4ED-1324ADFDEAE8}" srcOrd="0" destOrd="0" presId="urn:microsoft.com/office/officeart/2005/8/layout/hierarchy1"/>
    <dgm:cxn modelId="{5045BAB9-1880-2941-B878-B5285DD8516E}" type="presOf" srcId="{E0B4AEC9-97E8-4024-A40E-CC2A1DA1E2BD}" destId="{88E4D484-02A0-0243-9E50-51F5AB434A48}" srcOrd="0" destOrd="0" presId="urn:microsoft.com/office/officeart/2005/8/layout/hierarchy1"/>
    <dgm:cxn modelId="{F4AA2BE5-FD24-45A7-9A94-AD2C8AD26E03}" srcId="{F998C548-BA78-4773-826D-D67EEC85DC2F}" destId="{E0B4AEC9-97E8-4024-A40E-CC2A1DA1E2BD}" srcOrd="1" destOrd="0" parTransId="{F6E392B6-EA31-4B02-A933-C5ADC4EF93BE}" sibTransId="{FA80EB24-C84F-498F-9277-583944927CC2}"/>
    <dgm:cxn modelId="{BBE715CD-7416-CA40-BF54-4E0C6628ACC2}" type="presParOf" srcId="{1DFA45C6-29A1-044E-909D-BFD44D26A1BE}" destId="{8486B3C5-CCD5-BA40-9E53-8A20F40FC66C}" srcOrd="0" destOrd="0" presId="urn:microsoft.com/office/officeart/2005/8/layout/hierarchy1"/>
    <dgm:cxn modelId="{802C299E-9374-E947-824F-3DA2E42A1557}" type="presParOf" srcId="{8486B3C5-CCD5-BA40-9E53-8A20F40FC66C}" destId="{AE3CCA94-30C7-8740-9C17-1493E477E371}" srcOrd="0" destOrd="0" presId="urn:microsoft.com/office/officeart/2005/8/layout/hierarchy1"/>
    <dgm:cxn modelId="{53523D46-BBBA-474F-85A4-A97045FBBBF0}" type="presParOf" srcId="{AE3CCA94-30C7-8740-9C17-1493E477E371}" destId="{AA68ADCC-7E87-2F4F-91F7-F58707500C1B}" srcOrd="0" destOrd="0" presId="urn:microsoft.com/office/officeart/2005/8/layout/hierarchy1"/>
    <dgm:cxn modelId="{0EA466F3-D94F-B845-9A07-D5974D0A60D1}" type="presParOf" srcId="{AE3CCA94-30C7-8740-9C17-1493E477E371}" destId="{A95AA38C-F4CE-4149-BDA0-D45CAD85FED6}" srcOrd="1" destOrd="0" presId="urn:microsoft.com/office/officeart/2005/8/layout/hierarchy1"/>
    <dgm:cxn modelId="{F678E106-AA3B-8445-BD3C-5D48C7EC568D}" type="presParOf" srcId="{8486B3C5-CCD5-BA40-9E53-8A20F40FC66C}" destId="{58456125-F8C3-F44B-A752-4BB94D4CE626}" srcOrd="1" destOrd="0" presId="urn:microsoft.com/office/officeart/2005/8/layout/hierarchy1"/>
    <dgm:cxn modelId="{107A4E2A-2930-7948-B83C-8C286B6FC955}" type="presParOf" srcId="{1DFA45C6-29A1-044E-909D-BFD44D26A1BE}" destId="{9A514AC9-387C-744C-9C40-C6D989AF317B}" srcOrd="1" destOrd="0" presId="urn:microsoft.com/office/officeart/2005/8/layout/hierarchy1"/>
    <dgm:cxn modelId="{DA734432-48C1-7740-B955-A2A9769390E3}" type="presParOf" srcId="{9A514AC9-387C-744C-9C40-C6D989AF317B}" destId="{DCA534B2-2841-394E-A1F2-B11AB44DD3D4}" srcOrd="0" destOrd="0" presId="urn:microsoft.com/office/officeart/2005/8/layout/hierarchy1"/>
    <dgm:cxn modelId="{C6ECD048-9846-7E4A-9866-59CA58C94A18}" type="presParOf" srcId="{DCA534B2-2841-394E-A1F2-B11AB44DD3D4}" destId="{48450776-B67F-1D4B-9872-F552C1CA04AD}" srcOrd="0" destOrd="0" presId="urn:microsoft.com/office/officeart/2005/8/layout/hierarchy1"/>
    <dgm:cxn modelId="{678159C3-C248-784C-BCC0-463A040C875D}" type="presParOf" srcId="{DCA534B2-2841-394E-A1F2-B11AB44DD3D4}" destId="{88E4D484-02A0-0243-9E50-51F5AB434A48}" srcOrd="1" destOrd="0" presId="urn:microsoft.com/office/officeart/2005/8/layout/hierarchy1"/>
    <dgm:cxn modelId="{C766B49A-3281-8A4A-B85B-7216526228A7}" type="presParOf" srcId="{9A514AC9-387C-744C-9C40-C6D989AF317B}" destId="{853FB8D2-83D8-E84D-ADBF-7D0ECDFB2DE1}" srcOrd="1" destOrd="0" presId="urn:microsoft.com/office/officeart/2005/8/layout/hierarchy1"/>
    <dgm:cxn modelId="{CDF078F8-5CDA-1E4B-86CA-652667AB96A2}" type="presParOf" srcId="{1DFA45C6-29A1-044E-909D-BFD44D26A1BE}" destId="{81949835-0B4F-F744-B808-BD0A92E95F4C}" srcOrd="2" destOrd="0" presId="urn:microsoft.com/office/officeart/2005/8/layout/hierarchy1"/>
    <dgm:cxn modelId="{D9B1B351-D022-7841-A3EA-C9EDBA1A61AA}" type="presParOf" srcId="{81949835-0B4F-F744-B808-BD0A92E95F4C}" destId="{03C9A3F9-EBC7-8246-AF5B-5B19E81A83FC}" srcOrd="0" destOrd="0" presId="urn:microsoft.com/office/officeart/2005/8/layout/hierarchy1"/>
    <dgm:cxn modelId="{8CD8F994-46BA-094B-BA69-C4CF24F449B8}" type="presParOf" srcId="{03C9A3F9-EBC7-8246-AF5B-5B19E81A83FC}" destId="{87665FC5-60E4-8746-90E3-A53C4ACFE3CA}" srcOrd="0" destOrd="0" presId="urn:microsoft.com/office/officeart/2005/8/layout/hierarchy1"/>
    <dgm:cxn modelId="{242F67A4-5FE8-1E44-B231-B759BF2005F2}" type="presParOf" srcId="{03C9A3F9-EBC7-8246-AF5B-5B19E81A83FC}" destId="{5E94A23F-919B-7B41-A4ED-1324ADFDEAE8}" srcOrd="1" destOrd="0" presId="urn:microsoft.com/office/officeart/2005/8/layout/hierarchy1"/>
    <dgm:cxn modelId="{8AB1656C-29D3-5F4A-AB41-1688BA3D7564}" type="presParOf" srcId="{81949835-0B4F-F744-B808-BD0A92E95F4C}" destId="{8D0E419E-430B-0D47-BE2D-034A82690D8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0C1881-6713-344D-9FC9-F6D8E8C6FE3A}">
      <dsp:nvSpPr>
        <dsp:cNvPr id="0" name=""/>
        <dsp:cNvSpPr/>
      </dsp:nvSpPr>
      <dsp:spPr>
        <a:xfrm>
          <a:off x="307345" y="1546"/>
          <a:ext cx="3222855" cy="193371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What is the racial composition of the volunteers? </a:t>
          </a:r>
        </a:p>
      </dsp:txBody>
      <dsp:txXfrm>
        <a:off x="307345" y="1546"/>
        <a:ext cx="3222855" cy="1933713"/>
      </dsp:txXfrm>
    </dsp:sp>
    <dsp:sp modelId="{7841ACC1-79AE-494F-B2E6-92FD9D40CD26}">
      <dsp:nvSpPr>
        <dsp:cNvPr id="0" name=""/>
        <dsp:cNvSpPr/>
      </dsp:nvSpPr>
      <dsp:spPr>
        <a:xfrm>
          <a:off x="3852486" y="1546"/>
          <a:ext cx="3222855" cy="1933713"/>
        </a:xfrm>
        <a:prstGeom prst="rect">
          <a:avLst/>
        </a:prstGeom>
        <a:solidFill>
          <a:schemeClr val="accent2">
            <a:hueOff val="1288722"/>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Are some racial groups more engaged in volunteer activities within specific states? </a:t>
          </a:r>
        </a:p>
      </dsp:txBody>
      <dsp:txXfrm>
        <a:off x="3852486" y="1546"/>
        <a:ext cx="3222855" cy="1933713"/>
      </dsp:txXfrm>
    </dsp:sp>
    <dsp:sp modelId="{8147F015-1415-C14E-BBFE-BE7576D964C9}">
      <dsp:nvSpPr>
        <dsp:cNvPr id="0" name=""/>
        <dsp:cNvSpPr/>
      </dsp:nvSpPr>
      <dsp:spPr>
        <a:xfrm>
          <a:off x="7397627" y="1546"/>
          <a:ext cx="3222855" cy="1933713"/>
        </a:xfrm>
        <a:prstGeom prst="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Which program offices are most effective in engaging a diverse range of participants? </a:t>
          </a:r>
        </a:p>
      </dsp:txBody>
      <dsp:txXfrm>
        <a:off x="7397627" y="1546"/>
        <a:ext cx="3222855" cy="1933713"/>
      </dsp:txXfrm>
    </dsp:sp>
    <dsp:sp modelId="{20D40851-767D-4F42-A803-562DD3620BD6}">
      <dsp:nvSpPr>
        <dsp:cNvPr id="0" name=""/>
        <dsp:cNvSpPr/>
      </dsp:nvSpPr>
      <dsp:spPr>
        <a:xfrm>
          <a:off x="307345" y="2257545"/>
          <a:ext cx="3222855" cy="1933713"/>
        </a:xfrm>
        <a:prstGeom prst="rect">
          <a:avLst/>
        </a:prstGeom>
        <a:solidFill>
          <a:schemeClr val="accent2">
            <a:hueOff val="3866168"/>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How do participation rates compare between different programs within the same service region? </a:t>
          </a:r>
        </a:p>
      </dsp:txBody>
      <dsp:txXfrm>
        <a:off x="307345" y="2257545"/>
        <a:ext cx="3222855" cy="1933713"/>
      </dsp:txXfrm>
    </dsp:sp>
    <dsp:sp modelId="{A3EF6C9D-2F66-264F-B119-63001DD44078}">
      <dsp:nvSpPr>
        <dsp:cNvPr id="0" name=""/>
        <dsp:cNvSpPr/>
      </dsp:nvSpPr>
      <dsp:spPr>
        <a:xfrm>
          <a:off x="3852486" y="2257545"/>
          <a:ext cx="3222855" cy="1933713"/>
        </a:xfrm>
        <a:prstGeom prst="rect">
          <a:avLst/>
        </a:prstGeom>
        <a:solidFill>
          <a:schemeClr val="accent2">
            <a:hueOff val="5154890"/>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How does the representation of different demographic groups compare to their proportions in the general population? </a:t>
          </a:r>
        </a:p>
      </dsp:txBody>
      <dsp:txXfrm>
        <a:off x="3852486" y="2257545"/>
        <a:ext cx="3222855" cy="1933713"/>
      </dsp:txXfrm>
    </dsp:sp>
    <dsp:sp modelId="{984EE22B-BD1B-124C-8930-2A741E92D1B2}">
      <dsp:nvSpPr>
        <dsp:cNvPr id="0" name=""/>
        <dsp:cNvSpPr/>
      </dsp:nvSpPr>
      <dsp:spPr>
        <a:xfrm>
          <a:off x="7397627" y="2257545"/>
          <a:ext cx="3222855" cy="1933713"/>
        </a:xfrm>
        <a:prstGeom prst="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Which groups are overrepresented or underrepresented in AmeriCorps? </a:t>
          </a:r>
        </a:p>
      </dsp:txBody>
      <dsp:txXfrm>
        <a:off x="7397627" y="2257545"/>
        <a:ext cx="3222855" cy="19337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8ADCC-7E87-2F4F-91F7-F58707500C1B}">
      <dsp:nvSpPr>
        <dsp:cNvPr id="0" name=""/>
        <dsp:cNvSpPr/>
      </dsp:nvSpPr>
      <dsp:spPr>
        <a:xfrm>
          <a:off x="0" y="740056"/>
          <a:ext cx="3043237" cy="193245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5AA38C-F4CE-4149-BDA0-D45CAD85FED6}">
      <dsp:nvSpPr>
        <dsp:cNvPr id="0" name=""/>
        <dsp:cNvSpPr/>
      </dsp:nvSpPr>
      <dsp:spPr>
        <a:xfrm>
          <a:off x="338137" y="1061286"/>
          <a:ext cx="3043237" cy="193245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AmeriCorps consists of </a:t>
          </a:r>
        </a:p>
      </dsp:txBody>
      <dsp:txXfrm>
        <a:off x="394737" y="1117886"/>
        <a:ext cx="2930037" cy="1819255"/>
      </dsp:txXfrm>
    </dsp:sp>
    <dsp:sp modelId="{48450776-B67F-1D4B-9872-F552C1CA04AD}">
      <dsp:nvSpPr>
        <dsp:cNvPr id="0" name=""/>
        <dsp:cNvSpPr/>
      </dsp:nvSpPr>
      <dsp:spPr>
        <a:xfrm>
          <a:off x="3719512" y="740056"/>
          <a:ext cx="3043237" cy="193245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E4D484-02A0-0243-9E50-51F5AB434A48}">
      <dsp:nvSpPr>
        <dsp:cNvPr id="0" name=""/>
        <dsp:cNvSpPr/>
      </dsp:nvSpPr>
      <dsp:spPr>
        <a:xfrm>
          <a:off x="4057650" y="1061286"/>
          <a:ext cx="3043237" cy="193245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AmeriCorps aims for its volunteers to be representative both of the nation and of the communities it serves</a:t>
          </a:r>
        </a:p>
      </dsp:txBody>
      <dsp:txXfrm>
        <a:off x="4114250" y="1117886"/>
        <a:ext cx="2930037" cy="1819255"/>
      </dsp:txXfrm>
    </dsp:sp>
    <dsp:sp modelId="{87665FC5-60E4-8746-90E3-A53C4ACFE3CA}">
      <dsp:nvSpPr>
        <dsp:cNvPr id="0" name=""/>
        <dsp:cNvSpPr/>
      </dsp:nvSpPr>
      <dsp:spPr>
        <a:xfrm>
          <a:off x="7439025" y="740056"/>
          <a:ext cx="3043237" cy="193245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94A23F-919B-7B41-A4ED-1324ADFDEAE8}">
      <dsp:nvSpPr>
        <dsp:cNvPr id="0" name=""/>
        <dsp:cNvSpPr/>
      </dsp:nvSpPr>
      <dsp:spPr>
        <a:xfrm>
          <a:off x="7777162" y="1061286"/>
          <a:ext cx="3043237" cy="193245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data seems to indicate it is not quite reflective</a:t>
          </a:r>
        </a:p>
      </dsp:txBody>
      <dsp:txXfrm>
        <a:off x="7833762" y="1117886"/>
        <a:ext cx="2930037" cy="181925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A5A0DE-2FD6-0042-A3A0-5200B4A3BA52}" type="datetimeFigureOut">
              <a:rPr lang="en-US" smtClean="0"/>
              <a:t>10/21/24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A27FA-9835-A946-984D-7B40C4A7A60C}" type="slidenum">
              <a:rPr lang="en-US" smtClean="0"/>
              <a:t>‹#›</a:t>
            </a:fld>
            <a:endParaRPr lang="en-US"/>
          </a:p>
        </p:txBody>
      </p:sp>
    </p:spTree>
    <p:extLst>
      <p:ext uri="{BB962C8B-B14F-4D97-AF65-F5344CB8AC3E}">
        <p14:creationId xmlns:p14="http://schemas.microsoft.com/office/powerpoint/2010/main" val="2396290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7A27FA-9835-A946-984D-7B40C4A7A60C}" type="slidenum">
              <a:rPr lang="en-US" smtClean="0"/>
              <a:t>11</a:t>
            </a:fld>
            <a:endParaRPr lang="en-US"/>
          </a:p>
        </p:txBody>
      </p:sp>
    </p:spTree>
    <p:extLst>
      <p:ext uri="{BB962C8B-B14F-4D97-AF65-F5344CB8AC3E}">
        <p14:creationId xmlns:p14="http://schemas.microsoft.com/office/powerpoint/2010/main" val="1717809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AF51-434C-488D-C243-712281A44C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3F4BAA-E186-2CF9-9EA2-D98544A3E5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A18BC6-40F9-3BFD-CC5A-0DBB168447C9}"/>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5" name="Footer Placeholder 4">
            <a:extLst>
              <a:ext uri="{FF2B5EF4-FFF2-40B4-BE49-F238E27FC236}">
                <a16:creationId xmlns:a16="http://schemas.microsoft.com/office/drawing/2014/main" id="{2F061812-C3B8-36E8-4E02-9FC7D1FE4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61723-9554-028D-637C-C646C6AD809C}"/>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2624390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230B-6B1A-77AA-516B-265C868EE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C31831-11AB-E4B6-B1B9-2644D8E259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D3BD67-4694-1DBC-BF3B-9658694533B2}"/>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5" name="Footer Placeholder 4">
            <a:extLst>
              <a:ext uri="{FF2B5EF4-FFF2-40B4-BE49-F238E27FC236}">
                <a16:creationId xmlns:a16="http://schemas.microsoft.com/office/drawing/2014/main" id="{40EF24E7-39D1-8FFE-784F-628D08E02A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FD546-DF8B-8208-712F-8281985E8025}"/>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196941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DD9-AC56-B791-1C31-830F82861B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DD27C0-6329-49D4-DB85-05240C1256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6B8EC-ECFC-B229-0800-C0279DCEDF75}"/>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5" name="Footer Placeholder 4">
            <a:extLst>
              <a:ext uri="{FF2B5EF4-FFF2-40B4-BE49-F238E27FC236}">
                <a16:creationId xmlns:a16="http://schemas.microsoft.com/office/drawing/2014/main" id="{C8255C34-3164-6502-8E45-4EAA988C2A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EE2F64-4ADC-6747-50FF-0AC4090F5F51}"/>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27314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F447-F6AE-4D3E-DC9B-A643C318F8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59BA37-7537-3421-C7EE-CB8BE4FF58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8C9089-F33D-CE7B-927F-F03EF6ABE7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B2362D-49A7-2EF2-884E-DE6509965A78}"/>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6" name="Footer Placeholder 5">
            <a:extLst>
              <a:ext uri="{FF2B5EF4-FFF2-40B4-BE49-F238E27FC236}">
                <a16:creationId xmlns:a16="http://schemas.microsoft.com/office/drawing/2014/main" id="{E3153659-07D5-500B-1B80-8A9B3F70A4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B419C-1376-457F-A5D6-AC8D052E55FF}"/>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409285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B88C-296B-4205-6366-3EC4AD97E3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89A457-8446-AEFD-4719-7AE977B20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F3CB7B-9364-E120-07BE-D9358AAE82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27F314-F5E7-4604-B86F-569D0EE757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BA7744-0213-DD92-C5D4-7BADC5D14F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4FC89B-D08F-2957-6EE6-25F53B1F2784}"/>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8" name="Footer Placeholder 7">
            <a:extLst>
              <a:ext uri="{FF2B5EF4-FFF2-40B4-BE49-F238E27FC236}">
                <a16:creationId xmlns:a16="http://schemas.microsoft.com/office/drawing/2014/main" id="{D4CC4CA8-B568-A094-EFFE-CA503A214C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2FD096-F6E1-D01B-121B-FEF0AC781750}"/>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284328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575C-B24A-CC1F-6AF2-330A81AB23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2BDEB6-9486-A19C-48F9-BFA6D3CCF602}"/>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4" name="Footer Placeholder 3">
            <a:extLst>
              <a:ext uri="{FF2B5EF4-FFF2-40B4-BE49-F238E27FC236}">
                <a16:creationId xmlns:a16="http://schemas.microsoft.com/office/drawing/2014/main" id="{302C42C6-85ED-AC47-C836-52A48748EE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1902BC-F2D6-2AC0-EB33-8872122CF1E8}"/>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4145964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C6D07-58DC-0626-B6FC-4825E92ED2A9}"/>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3" name="Footer Placeholder 2">
            <a:extLst>
              <a:ext uri="{FF2B5EF4-FFF2-40B4-BE49-F238E27FC236}">
                <a16:creationId xmlns:a16="http://schemas.microsoft.com/office/drawing/2014/main" id="{47EA13AC-D79B-6847-5D2E-7A6F9347C2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F7A99E-E540-7DA2-E688-1E8CCE95BDCD}"/>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297709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96C77-7D08-DA29-54AE-432687C789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F43D66-CAF2-A295-978E-6EDC9B5A4E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5B5C7F-CE08-BA5D-12B4-3600866CDF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DC225B-6C95-21CF-1B49-3DF44B61738C}"/>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6" name="Footer Placeholder 5">
            <a:extLst>
              <a:ext uri="{FF2B5EF4-FFF2-40B4-BE49-F238E27FC236}">
                <a16:creationId xmlns:a16="http://schemas.microsoft.com/office/drawing/2014/main" id="{5E45E282-DCFF-C367-486D-80F6C4EBBA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CB4657-0C15-9E0B-451B-00F87C2065F9}"/>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328540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BF28-3522-EC42-5ECD-BBE0A3EA9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AAA4F8-7206-FD86-2F44-43575255FC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A9492D-5AB0-0164-5B4C-C51A9F1F6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115C2-91ED-C1FC-890E-DF07D38B7A54}"/>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6" name="Footer Placeholder 5">
            <a:extLst>
              <a:ext uri="{FF2B5EF4-FFF2-40B4-BE49-F238E27FC236}">
                <a16:creationId xmlns:a16="http://schemas.microsoft.com/office/drawing/2014/main" id="{EBF38600-4986-AE73-98E0-6A61457C9D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715176-3934-7978-AD38-D7BCFA634CBE}"/>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1263319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64BA-7678-DB75-EF51-CBED2AEA21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C2EEA5-3C0C-D0D7-CEA4-296975CB1D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FDB971-0274-B511-96E4-78D4544DEE6E}"/>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5" name="Footer Placeholder 4">
            <a:extLst>
              <a:ext uri="{FF2B5EF4-FFF2-40B4-BE49-F238E27FC236}">
                <a16:creationId xmlns:a16="http://schemas.microsoft.com/office/drawing/2014/main" id="{E0EB9CB8-B1A0-010C-E28A-15C0A4575A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2524F-F930-CA94-0C1B-BB91CAF4647E}"/>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92743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E805B4-920D-4A1B-10A4-1BE1884485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0BC8A6-921C-6C09-84DC-08E4806358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1FB4B-D6CA-30C8-1C0F-7F862E02760C}"/>
              </a:ext>
            </a:extLst>
          </p:cNvPr>
          <p:cNvSpPr>
            <a:spLocks noGrp="1"/>
          </p:cNvSpPr>
          <p:nvPr>
            <p:ph type="dt" sz="half" idx="10"/>
          </p:nvPr>
        </p:nvSpPr>
        <p:spPr/>
        <p:txBody>
          <a:bodyPr/>
          <a:lstStyle/>
          <a:p>
            <a:fld id="{6004D711-28DD-1248-858B-9A1F4978A960}" type="datetimeFigureOut">
              <a:rPr lang="en-US" smtClean="0"/>
              <a:t>10/21/24</a:t>
            </a:fld>
            <a:endParaRPr lang="en-US"/>
          </a:p>
        </p:txBody>
      </p:sp>
      <p:sp>
        <p:nvSpPr>
          <p:cNvPr id="5" name="Footer Placeholder 4">
            <a:extLst>
              <a:ext uri="{FF2B5EF4-FFF2-40B4-BE49-F238E27FC236}">
                <a16:creationId xmlns:a16="http://schemas.microsoft.com/office/drawing/2014/main" id="{2763565E-ABF5-7A55-0188-4D2690DAD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29302-86A5-1DF6-5B22-561944DD8B05}"/>
              </a:ext>
            </a:extLst>
          </p:cNvPr>
          <p:cNvSpPr>
            <a:spLocks noGrp="1"/>
          </p:cNvSpPr>
          <p:nvPr>
            <p:ph type="sldNum" sz="quarter" idx="12"/>
          </p:nvPr>
        </p:nvSpPr>
        <p:spPr/>
        <p:txBody>
          <a:bodyPr/>
          <a:lstStyle/>
          <a:p>
            <a:fld id="{B8222CB1-84E3-CD4B-9CA5-3FC462927E3D}" type="slidenum">
              <a:rPr lang="en-US" smtClean="0"/>
              <a:t>‹#›</a:t>
            </a:fld>
            <a:endParaRPr lang="en-US"/>
          </a:p>
        </p:txBody>
      </p:sp>
    </p:spTree>
    <p:extLst>
      <p:ext uri="{BB962C8B-B14F-4D97-AF65-F5344CB8AC3E}">
        <p14:creationId xmlns:p14="http://schemas.microsoft.com/office/powerpoint/2010/main" val="408891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CE5EC-E0E6-45B9-DA2E-D3E7E87FAC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719CBE-116E-6963-CB52-BFCF155CA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3EA369-FEDD-7503-3309-6366EA49CF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04D711-28DD-1248-858B-9A1F4978A960}" type="datetimeFigureOut">
              <a:rPr lang="en-US" smtClean="0"/>
              <a:t>10/21/24</a:t>
            </a:fld>
            <a:endParaRPr lang="en-US"/>
          </a:p>
        </p:txBody>
      </p:sp>
      <p:sp>
        <p:nvSpPr>
          <p:cNvPr id="5" name="Footer Placeholder 4">
            <a:extLst>
              <a:ext uri="{FF2B5EF4-FFF2-40B4-BE49-F238E27FC236}">
                <a16:creationId xmlns:a16="http://schemas.microsoft.com/office/drawing/2014/main" id="{635E3A30-532C-4234-32FB-79C4D8BC1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4FAC8-76F1-53E7-EFBE-E894DF8358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222CB1-84E3-CD4B-9CA5-3FC462927E3D}" type="slidenum">
              <a:rPr lang="en-US" smtClean="0"/>
              <a:t>‹#›</a:t>
            </a:fld>
            <a:endParaRPr lang="en-US"/>
          </a:p>
        </p:txBody>
      </p:sp>
    </p:spTree>
    <p:extLst>
      <p:ext uri="{BB962C8B-B14F-4D97-AF65-F5344CB8AC3E}">
        <p14:creationId xmlns:p14="http://schemas.microsoft.com/office/powerpoint/2010/main" val="1829291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C9DB0A6-E6CD-2579-C633-0BB97235D7F7}"/>
              </a:ext>
            </a:extLst>
          </p:cNvPr>
          <p:cNvSpPr>
            <a:spLocks noGrp="1"/>
          </p:cNvSpPr>
          <p:nvPr>
            <p:ph type="ctrTitle"/>
          </p:nvPr>
        </p:nvSpPr>
        <p:spPr>
          <a:xfrm>
            <a:off x="1314824" y="735106"/>
            <a:ext cx="10053763" cy="2928470"/>
          </a:xfrm>
        </p:spPr>
        <p:txBody>
          <a:bodyPr anchor="b">
            <a:normAutofit/>
          </a:bodyPr>
          <a:lstStyle/>
          <a:p>
            <a:pPr algn="l"/>
            <a:br>
              <a:rPr lang="en-US" sz="4100">
                <a:solidFill>
                  <a:srgbClr val="FFFFFF"/>
                </a:solidFill>
                <a:effectLst/>
                <a:latin typeface="Helvetica" pitchFamily="2" charset="0"/>
              </a:rPr>
            </a:br>
            <a:br>
              <a:rPr lang="en-US" sz="4100">
                <a:solidFill>
                  <a:srgbClr val="FFFFFF"/>
                </a:solidFill>
                <a:effectLst/>
                <a:latin typeface="Helvetica" pitchFamily="2" charset="0"/>
              </a:rPr>
            </a:br>
            <a:r>
              <a:rPr lang="en-US" sz="4100">
                <a:solidFill>
                  <a:srgbClr val="FFFFFF"/>
                </a:solidFill>
                <a:effectLst/>
                <a:latin typeface="Helvetica" pitchFamily="2" charset="0"/>
              </a:rPr>
              <a:t> Analyzing the Demographic Diversity of Volunteer Participation in AmeriCorps </a:t>
            </a:r>
          </a:p>
        </p:txBody>
      </p:sp>
      <p:sp>
        <p:nvSpPr>
          <p:cNvPr id="3" name="Subtitle 2">
            <a:extLst>
              <a:ext uri="{FF2B5EF4-FFF2-40B4-BE49-F238E27FC236}">
                <a16:creationId xmlns:a16="http://schemas.microsoft.com/office/drawing/2014/main" id="{766F0511-775E-61E8-BB20-78A5E9E11240}"/>
              </a:ext>
            </a:extLst>
          </p:cNvPr>
          <p:cNvSpPr>
            <a:spLocks noGrp="1"/>
          </p:cNvSpPr>
          <p:nvPr>
            <p:ph type="subTitle" idx="1"/>
          </p:nvPr>
        </p:nvSpPr>
        <p:spPr>
          <a:xfrm>
            <a:off x="1350682" y="4870824"/>
            <a:ext cx="10005951" cy="1458258"/>
          </a:xfrm>
        </p:spPr>
        <p:txBody>
          <a:bodyPr anchor="ctr">
            <a:normAutofit/>
          </a:bodyPr>
          <a:lstStyle/>
          <a:p>
            <a:pPr algn="l"/>
            <a:r>
              <a:rPr lang="en-US" b="1"/>
              <a:t>DATS 6101, Group 8</a:t>
            </a:r>
          </a:p>
          <a:p>
            <a:pPr algn="l"/>
            <a:r>
              <a:rPr lang="en-US" dirty="0"/>
              <a:t>Aidan Carlisle | </a:t>
            </a:r>
            <a:r>
              <a:rPr lang="en-US" dirty="0" err="1"/>
              <a:t>Sayan</a:t>
            </a:r>
            <a:r>
              <a:rPr lang="en-US" dirty="0"/>
              <a:t> Patra | Rachel Thomas | Anusha </a:t>
            </a:r>
            <a:r>
              <a:rPr lang="en-US" dirty="0" err="1"/>
              <a:t>Umashankar</a:t>
            </a:r>
            <a:endParaRPr lang="en-US"/>
          </a:p>
        </p:txBody>
      </p:sp>
    </p:spTree>
    <p:extLst>
      <p:ext uri="{BB962C8B-B14F-4D97-AF65-F5344CB8AC3E}">
        <p14:creationId xmlns:p14="http://schemas.microsoft.com/office/powerpoint/2010/main" val="85819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B6B380-DEFC-84E6-C449-1F77CDA98DB0}"/>
              </a:ext>
            </a:extLst>
          </p:cNvPr>
          <p:cNvSpPr>
            <a:spLocks noGrp="1"/>
          </p:cNvSpPr>
          <p:nvPr>
            <p:ph type="title"/>
          </p:nvPr>
        </p:nvSpPr>
        <p:spPr>
          <a:xfrm>
            <a:off x="1136397" y="502021"/>
            <a:ext cx="6407403" cy="912110"/>
          </a:xfrm>
        </p:spPr>
        <p:txBody>
          <a:bodyPr anchor="b">
            <a:normAutofit/>
          </a:bodyPr>
          <a:lstStyle/>
          <a:p>
            <a:r>
              <a:rPr lang="en-US" sz="4000" dirty="0"/>
              <a:t>What is AmeriCorps?</a:t>
            </a:r>
          </a:p>
        </p:txBody>
      </p:sp>
      <p:sp>
        <p:nvSpPr>
          <p:cNvPr id="3" name="Content Placeholder 2">
            <a:extLst>
              <a:ext uri="{FF2B5EF4-FFF2-40B4-BE49-F238E27FC236}">
                <a16:creationId xmlns:a16="http://schemas.microsoft.com/office/drawing/2014/main" id="{BCD37085-8A04-24DA-8202-6FC9C0D642AA}"/>
              </a:ext>
            </a:extLst>
          </p:cNvPr>
          <p:cNvSpPr>
            <a:spLocks noGrp="1"/>
          </p:cNvSpPr>
          <p:nvPr>
            <p:ph idx="1"/>
          </p:nvPr>
        </p:nvSpPr>
        <p:spPr>
          <a:xfrm>
            <a:off x="668564" y="1584251"/>
            <a:ext cx="6407403" cy="4630811"/>
          </a:xfrm>
        </p:spPr>
        <p:txBody>
          <a:bodyPr anchor="t">
            <a:normAutofit/>
          </a:bodyPr>
          <a:lstStyle/>
          <a:p>
            <a:r>
              <a:rPr lang="en-US" sz="2000" dirty="0"/>
              <a:t>US Federal agency that “brings people together to </a:t>
            </a:r>
            <a:r>
              <a:rPr lang="en-US" sz="2000" dirty="0" err="1"/>
              <a:t>tacke</a:t>
            </a:r>
            <a:r>
              <a:rPr lang="en-US" sz="2000" dirty="0"/>
              <a:t> the country’s most pressing challenges through national service and volunteering.”</a:t>
            </a:r>
          </a:p>
          <a:p>
            <a:r>
              <a:rPr lang="en-US" sz="2000" dirty="0"/>
              <a:t>AmeriCorps </a:t>
            </a:r>
          </a:p>
          <a:p>
            <a:pPr lvl="1"/>
            <a:r>
              <a:rPr lang="en-US" sz="2000" dirty="0"/>
              <a:t>AmeriCorps NCCC</a:t>
            </a:r>
          </a:p>
          <a:p>
            <a:pPr lvl="1"/>
            <a:r>
              <a:rPr lang="en-US" sz="2000" dirty="0"/>
              <a:t>AmeriCorps State and National</a:t>
            </a:r>
          </a:p>
          <a:p>
            <a:pPr lvl="1"/>
            <a:r>
              <a:rPr lang="en-US" sz="2000" dirty="0"/>
              <a:t>Public Health AmeriCorps</a:t>
            </a:r>
          </a:p>
          <a:p>
            <a:pPr lvl="1"/>
            <a:r>
              <a:rPr lang="en-US" sz="2000" dirty="0"/>
              <a:t>AmeriCorps VISTA</a:t>
            </a:r>
          </a:p>
          <a:p>
            <a:r>
              <a:rPr lang="en-US" sz="2000" dirty="0"/>
              <a:t>AmeriCorps Seniors</a:t>
            </a:r>
          </a:p>
          <a:p>
            <a:pPr lvl="1"/>
            <a:r>
              <a:rPr lang="en-US" sz="2000" dirty="0"/>
              <a:t>Foster </a:t>
            </a:r>
            <a:r>
              <a:rPr lang="en-US" sz="2000" dirty="0" err="1"/>
              <a:t>Granparent</a:t>
            </a:r>
            <a:r>
              <a:rPr lang="en-US" sz="2000" dirty="0"/>
              <a:t> Program</a:t>
            </a:r>
          </a:p>
          <a:p>
            <a:pPr lvl="1"/>
            <a:r>
              <a:rPr lang="en-US" sz="2000" dirty="0"/>
              <a:t>RSVP</a:t>
            </a:r>
          </a:p>
          <a:p>
            <a:pPr lvl="1"/>
            <a:r>
              <a:rPr lang="en-US" sz="2000" dirty="0"/>
              <a:t>Senior Companion Program</a:t>
            </a:r>
          </a:p>
          <a:p>
            <a:pPr lvl="1"/>
            <a:r>
              <a:rPr lang="en-US" sz="2000" dirty="0"/>
              <a:t>Senior Demonstration Program</a:t>
            </a:r>
          </a:p>
          <a:p>
            <a:pPr lvl="1"/>
            <a:endParaRPr lang="en-US" sz="2000" dirty="0"/>
          </a:p>
          <a:p>
            <a:pPr lvl="1"/>
            <a:endParaRPr lang="en-US" sz="2000" dirty="0"/>
          </a:p>
        </p:txBody>
      </p:sp>
      <p:sp>
        <p:nvSpPr>
          <p:cNvPr id="1033" name="Rectangle 103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Rectangle 103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Rectangle 103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Communication Resources | AmeriCorps">
            <a:extLst>
              <a:ext uri="{FF2B5EF4-FFF2-40B4-BE49-F238E27FC236}">
                <a16:creationId xmlns:a16="http://schemas.microsoft.com/office/drawing/2014/main" id="{1D2BB2DC-E129-23D2-9B83-2A003672F0E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75967" y="2161706"/>
            <a:ext cx="4170530" cy="2566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015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C8395A-64CF-0EA3-DAB0-FA439B0257CE}"/>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Where is the data from?</a:t>
            </a:r>
          </a:p>
        </p:txBody>
      </p:sp>
      <p:sp>
        <p:nvSpPr>
          <p:cNvPr id="3" name="Content Placeholder 2">
            <a:extLst>
              <a:ext uri="{FF2B5EF4-FFF2-40B4-BE49-F238E27FC236}">
                <a16:creationId xmlns:a16="http://schemas.microsoft.com/office/drawing/2014/main" id="{F1325F6E-995F-9256-9530-B87FFF796626}"/>
              </a:ext>
            </a:extLst>
          </p:cNvPr>
          <p:cNvSpPr>
            <a:spLocks noGrp="1"/>
          </p:cNvSpPr>
          <p:nvPr>
            <p:ph idx="1"/>
          </p:nvPr>
        </p:nvSpPr>
        <p:spPr>
          <a:xfrm>
            <a:off x="6503158" y="649480"/>
            <a:ext cx="4862447" cy="5546047"/>
          </a:xfrm>
        </p:spPr>
        <p:txBody>
          <a:bodyPr anchor="ctr">
            <a:normAutofit/>
          </a:bodyPr>
          <a:lstStyle/>
          <a:p>
            <a:r>
              <a:rPr lang="en-US" dirty="0">
                <a:latin typeface="Helvetica" pitchFamily="2" charset="0"/>
              </a:rPr>
              <a:t>Collected and published by AmeriCorps</a:t>
            </a:r>
          </a:p>
          <a:p>
            <a:r>
              <a:rPr lang="en-US" dirty="0">
                <a:latin typeface="Helvetica" pitchFamily="2" charset="0"/>
              </a:rPr>
              <a:t>P</a:t>
            </a:r>
            <a:r>
              <a:rPr lang="en-US" dirty="0">
                <a:effectLst/>
                <a:latin typeface="Helvetica" pitchFamily="2" charset="0"/>
              </a:rPr>
              <a:t>rovides comparisons of demographic group prevalence in AmeriCorps Member/Volunteers populations to the greater U.S. population</a:t>
            </a:r>
          </a:p>
          <a:p>
            <a:r>
              <a:rPr lang="en-US" dirty="0">
                <a:effectLst/>
                <a:latin typeface="Helvetica" pitchFamily="2" charset="0"/>
              </a:rPr>
              <a:t>The source dataset consists of about 26000 observations over 17 attributes </a:t>
            </a:r>
          </a:p>
          <a:p>
            <a:pPr marL="0" indent="0">
              <a:buNone/>
            </a:pPr>
            <a:endParaRPr lang="en-US" dirty="0">
              <a:effectLst/>
              <a:latin typeface="Helvetica" pitchFamily="2" charset="0"/>
            </a:endParaRPr>
          </a:p>
        </p:txBody>
      </p:sp>
    </p:spTree>
    <p:extLst>
      <p:ext uri="{BB962C8B-B14F-4D97-AF65-F5344CB8AC3E}">
        <p14:creationId xmlns:p14="http://schemas.microsoft.com/office/powerpoint/2010/main" val="4291046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D7007F-098C-1868-EE33-C26AE69E00B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Proposed SMART Questions</a:t>
            </a:r>
          </a:p>
        </p:txBody>
      </p:sp>
      <p:graphicFrame>
        <p:nvGraphicFramePr>
          <p:cNvPr id="5" name="Content Placeholder 2">
            <a:extLst>
              <a:ext uri="{FF2B5EF4-FFF2-40B4-BE49-F238E27FC236}">
                <a16:creationId xmlns:a16="http://schemas.microsoft.com/office/drawing/2014/main" id="{B0DFEBA9-BE9D-7E53-13DF-E7892B2F0340}"/>
              </a:ext>
            </a:extLst>
          </p:cNvPr>
          <p:cNvGraphicFramePr>
            <a:graphicFrameLocks noGrp="1"/>
          </p:cNvGraphicFramePr>
          <p:nvPr>
            <p:ph idx="1"/>
            <p:extLst>
              <p:ext uri="{D42A27DB-BD31-4B8C-83A1-F6EECF244321}">
                <p14:modId xmlns:p14="http://schemas.microsoft.com/office/powerpoint/2010/main" val="3612172669"/>
              </p:ext>
            </p:extLst>
          </p:nvPr>
        </p:nvGraphicFramePr>
        <p:xfrm>
          <a:off x="632085" y="2162006"/>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0480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8D4898-0B03-46FE-0A1B-FADA422086F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Important note on MSYs</a:t>
            </a:r>
          </a:p>
        </p:txBody>
      </p:sp>
      <p:sp>
        <p:nvSpPr>
          <p:cNvPr id="3" name="Content Placeholder 2">
            <a:extLst>
              <a:ext uri="{FF2B5EF4-FFF2-40B4-BE49-F238E27FC236}">
                <a16:creationId xmlns:a16="http://schemas.microsoft.com/office/drawing/2014/main" id="{F2579978-B801-2B9C-F234-007E75B0970D}"/>
              </a:ext>
            </a:extLst>
          </p:cNvPr>
          <p:cNvSpPr>
            <a:spLocks noGrp="1"/>
          </p:cNvSpPr>
          <p:nvPr>
            <p:ph idx="1"/>
          </p:nvPr>
        </p:nvSpPr>
        <p:spPr>
          <a:xfrm>
            <a:off x="1371599" y="2318197"/>
            <a:ext cx="9724031" cy="3683358"/>
          </a:xfrm>
        </p:spPr>
        <p:txBody>
          <a:bodyPr anchor="ctr">
            <a:normAutofit/>
          </a:bodyPr>
          <a:lstStyle/>
          <a:p>
            <a:pPr marL="0" indent="0">
              <a:buNone/>
            </a:pPr>
            <a:r>
              <a:rPr lang="en-US" dirty="0">
                <a:effectLst/>
                <a:latin typeface="Helvetica" pitchFamily="2" charset="0"/>
              </a:rPr>
              <a:t>For member data, member service years [MSYs] (i.e., the number of days or hours members are required to serve over the course of their term to fulfill their service requirements) are summed and used in place of observed member counts to account for potential differences in service time allotments assigned to different demographic groups. </a:t>
            </a:r>
          </a:p>
        </p:txBody>
      </p:sp>
    </p:spTree>
    <p:extLst>
      <p:ext uri="{BB962C8B-B14F-4D97-AF65-F5344CB8AC3E}">
        <p14:creationId xmlns:p14="http://schemas.microsoft.com/office/powerpoint/2010/main" val="3087126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26A73E3-3A8F-DAD3-8737-DA7CE0B1EAEC}"/>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What is the racial composition of the volunteers?</a:t>
            </a:r>
          </a:p>
        </p:txBody>
      </p:sp>
      <p:pic>
        <p:nvPicPr>
          <p:cNvPr id="9" name="Content Placeholder 8" descr="A graph showing the number of members of service&#10;&#10;Description automatically generated">
            <a:extLst>
              <a:ext uri="{FF2B5EF4-FFF2-40B4-BE49-F238E27FC236}">
                <a16:creationId xmlns:a16="http://schemas.microsoft.com/office/drawing/2014/main" id="{20BABD83-CEA9-920E-929F-67E19D647A26}"/>
              </a:ext>
            </a:extLst>
          </p:cNvPr>
          <p:cNvPicPr>
            <a:picLocks noGrp="1" noChangeAspect="1"/>
          </p:cNvPicPr>
          <p:nvPr>
            <p:ph idx="1"/>
          </p:nvPr>
        </p:nvPicPr>
        <p:blipFill>
          <a:blip r:embed="rId2"/>
          <a:stretch>
            <a:fillRect/>
          </a:stretch>
        </p:blipFill>
        <p:spPr>
          <a:xfrm>
            <a:off x="4089012" y="753171"/>
            <a:ext cx="7918299" cy="5424035"/>
          </a:xfrm>
          <a:prstGeom prst="rect">
            <a:avLst/>
          </a:prstGeom>
        </p:spPr>
      </p:pic>
    </p:spTree>
    <p:extLst>
      <p:ext uri="{BB962C8B-B14F-4D97-AF65-F5344CB8AC3E}">
        <p14:creationId xmlns:p14="http://schemas.microsoft.com/office/powerpoint/2010/main" val="186422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982814-4D8D-CDBC-9E09-E3CED6366D50}"/>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dirty="0">
                <a:solidFill>
                  <a:srgbClr val="FFFFFF"/>
                </a:solidFill>
                <a:latin typeface="+mj-lt"/>
                <a:ea typeface="+mj-ea"/>
                <a:cs typeface="+mj-cs"/>
              </a:rPr>
              <a:t>Are some racial groups more engaged in volunteer activities within specific states? </a:t>
            </a:r>
            <a:br>
              <a:rPr lang="en-US" sz="2500" kern="1200" dirty="0">
                <a:solidFill>
                  <a:srgbClr val="FFFFFF"/>
                </a:solidFill>
                <a:latin typeface="+mj-lt"/>
                <a:ea typeface="+mj-ea"/>
                <a:cs typeface="+mj-cs"/>
              </a:rPr>
            </a:br>
            <a:endParaRPr lang="en-US" sz="2500" kern="1200" dirty="0">
              <a:solidFill>
                <a:srgbClr val="FFFFFF"/>
              </a:solidFill>
              <a:latin typeface="+mj-lt"/>
              <a:ea typeface="+mj-ea"/>
              <a:cs typeface="+mj-cs"/>
            </a:endParaRPr>
          </a:p>
        </p:txBody>
      </p:sp>
      <p:sp>
        <p:nvSpPr>
          <p:cNvPr id="5" name="AutoShape 4">
            <a:extLst>
              <a:ext uri="{FF2B5EF4-FFF2-40B4-BE49-F238E27FC236}">
                <a16:creationId xmlns:a16="http://schemas.microsoft.com/office/drawing/2014/main" id="{C693F95A-58CD-F57F-12CC-B136BAB3F4C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363E4159-93D2-F7C4-8CC3-BE803AA91D86}"/>
              </a:ext>
            </a:extLst>
          </p:cNvPr>
          <p:cNvPicPr>
            <a:picLocks noChangeAspect="1"/>
          </p:cNvPicPr>
          <p:nvPr/>
        </p:nvPicPr>
        <p:blipFill>
          <a:blip r:embed="rId2"/>
          <a:stretch>
            <a:fillRect/>
          </a:stretch>
        </p:blipFill>
        <p:spPr>
          <a:xfrm>
            <a:off x="2362200" y="1786704"/>
            <a:ext cx="7772400" cy="4857750"/>
          </a:xfrm>
          <a:prstGeom prst="rect">
            <a:avLst/>
          </a:prstGeom>
        </p:spPr>
      </p:pic>
    </p:spTree>
    <p:extLst>
      <p:ext uri="{BB962C8B-B14F-4D97-AF65-F5344CB8AC3E}">
        <p14:creationId xmlns:p14="http://schemas.microsoft.com/office/powerpoint/2010/main" val="96234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9D26DF-83AF-9B11-21D3-82AC617792BE}"/>
              </a:ext>
            </a:extLst>
          </p:cNvPr>
          <p:cNvSpPr>
            <a:spLocks noGrp="1"/>
          </p:cNvSpPr>
          <p:nvPr>
            <p:ph type="title"/>
          </p:nvPr>
        </p:nvSpPr>
        <p:spPr>
          <a:xfrm>
            <a:off x="1371599" y="294538"/>
            <a:ext cx="9895951" cy="1033669"/>
          </a:xfrm>
        </p:spPr>
        <p:txBody>
          <a:bodyPr>
            <a:normAutofit/>
          </a:bodyPr>
          <a:lstStyle/>
          <a:p>
            <a:r>
              <a:rPr lang="en-US" sz="2200">
                <a:solidFill>
                  <a:srgbClr val="FFFFFF"/>
                </a:solidFill>
              </a:rPr>
              <a:t>Which program offices are most effective in engaging a diverse range of participants? </a:t>
            </a:r>
            <a:br>
              <a:rPr lang="en-US" sz="2200">
                <a:solidFill>
                  <a:srgbClr val="FFFFFF"/>
                </a:solidFill>
              </a:rPr>
            </a:br>
            <a:endParaRPr lang="en-US" sz="2200">
              <a:solidFill>
                <a:srgbClr val="FFFFFF"/>
              </a:solidFill>
            </a:endParaRPr>
          </a:p>
        </p:txBody>
      </p:sp>
      <p:pic>
        <p:nvPicPr>
          <p:cNvPr id="4" name="Picture 3">
            <a:extLst>
              <a:ext uri="{FF2B5EF4-FFF2-40B4-BE49-F238E27FC236}">
                <a16:creationId xmlns:a16="http://schemas.microsoft.com/office/drawing/2014/main" id="{2C349930-41AB-52C6-C44D-AA8759A13DD9}"/>
              </a:ext>
            </a:extLst>
          </p:cNvPr>
          <p:cNvPicPr>
            <a:picLocks noChangeAspect="1"/>
          </p:cNvPicPr>
          <p:nvPr/>
        </p:nvPicPr>
        <p:blipFill>
          <a:blip r:embed="rId2"/>
          <a:stretch>
            <a:fillRect/>
          </a:stretch>
        </p:blipFill>
        <p:spPr>
          <a:xfrm>
            <a:off x="2433374" y="1798841"/>
            <a:ext cx="7772400" cy="4857750"/>
          </a:xfrm>
          <a:prstGeom prst="rect">
            <a:avLst/>
          </a:prstGeom>
        </p:spPr>
      </p:pic>
    </p:spTree>
    <p:extLst>
      <p:ext uri="{BB962C8B-B14F-4D97-AF65-F5344CB8AC3E}">
        <p14:creationId xmlns:p14="http://schemas.microsoft.com/office/powerpoint/2010/main" val="3965314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F6B807-3088-3DF3-0C00-BCE0F211FD61}"/>
              </a:ext>
            </a:extLst>
          </p:cNvPr>
          <p:cNvSpPr>
            <a:spLocks noGrp="1"/>
          </p:cNvSpPr>
          <p:nvPr>
            <p:ph type="title"/>
          </p:nvPr>
        </p:nvSpPr>
        <p:spPr>
          <a:xfrm>
            <a:off x="1371599" y="294538"/>
            <a:ext cx="9895951" cy="1033669"/>
          </a:xfrm>
        </p:spPr>
        <p:txBody>
          <a:bodyPr>
            <a:normAutofit/>
          </a:bodyPr>
          <a:lstStyle/>
          <a:p>
            <a:r>
              <a:rPr lang="en-US" sz="2400" dirty="0">
                <a:solidFill>
                  <a:srgbClr val="FFFFFF"/>
                </a:solidFill>
              </a:rPr>
              <a:t>How do participation rates compare between different programs within the same service region? </a:t>
            </a:r>
            <a:endParaRPr lang="en-US" sz="2200" dirty="0">
              <a:solidFill>
                <a:srgbClr val="FFFFFF"/>
              </a:solidFill>
            </a:endParaRPr>
          </a:p>
        </p:txBody>
      </p:sp>
      <p:pic>
        <p:nvPicPr>
          <p:cNvPr id="4" name="Picture 3">
            <a:extLst>
              <a:ext uri="{FF2B5EF4-FFF2-40B4-BE49-F238E27FC236}">
                <a16:creationId xmlns:a16="http://schemas.microsoft.com/office/drawing/2014/main" id="{87FA8915-981C-CD76-3214-A32EF8418458}"/>
              </a:ext>
            </a:extLst>
          </p:cNvPr>
          <p:cNvPicPr>
            <a:picLocks noChangeAspect="1"/>
          </p:cNvPicPr>
          <p:nvPr/>
        </p:nvPicPr>
        <p:blipFill>
          <a:blip r:embed="rId2"/>
          <a:stretch>
            <a:fillRect/>
          </a:stretch>
        </p:blipFill>
        <p:spPr>
          <a:xfrm>
            <a:off x="2433374" y="1798841"/>
            <a:ext cx="7772400" cy="4857750"/>
          </a:xfrm>
          <a:prstGeom prst="rect">
            <a:avLst/>
          </a:prstGeom>
        </p:spPr>
      </p:pic>
    </p:spTree>
    <p:extLst>
      <p:ext uri="{BB962C8B-B14F-4D97-AF65-F5344CB8AC3E}">
        <p14:creationId xmlns:p14="http://schemas.microsoft.com/office/powerpoint/2010/main" val="1573446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0CC77E-40BC-46BF-D1EB-E390C3513CB5}"/>
              </a:ext>
            </a:extLst>
          </p:cNvPr>
          <p:cNvSpPr>
            <a:spLocks noGrp="1"/>
          </p:cNvSpPr>
          <p:nvPr>
            <p:ph type="title"/>
          </p:nvPr>
        </p:nvSpPr>
        <p:spPr>
          <a:xfrm>
            <a:off x="671513" y="294538"/>
            <a:ext cx="10596037" cy="1033669"/>
          </a:xfrm>
        </p:spPr>
        <p:txBody>
          <a:bodyPr>
            <a:noAutofit/>
          </a:bodyPr>
          <a:lstStyle/>
          <a:p>
            <a:pPr lvl="0"/>
            <a:r>
              <a:rPr lang="en-US" sz="2400" dirty="0">
                <a:solidFill>
                  <a:schemeClr val="bg1"/>
                </a:solidFill>
              </a:rPr>
              <a:t>How does the representation of different demographic groups compare to their proportions in the general population?</a:t>
            </a:r>
          </a:p>
        </p:txBody>
      </p:sp>
      <p:sp>
        <p:nvSpPr>
          <p:cNvPr id="3" name="Content Placeholder 2">
            <a:extLst>
              <a:ext uri="{FF2B5EF4-FFF2-40B4-BE49-F238E27FC236}">
                <a16:creationId xmlns:a16="http://schemas.microsoft.com/office/drawing/2014/main" id="{3675A650-1028-8283-2AFA-B885AC34DF78}"/>
              </a:ext>
            </a:extLst>
          </p:cNvPr>
          <p:cNvSpPr>
            <a:spLocks noGrp="1"/>
          </p:cNvSpPr>
          <p:nvPr>
            <p:ph idx="1"/>
          </p:nvPr>
        </p:nvSpPr>
        <p:spPr>
          <a:xfrm>
            <a:off x="1371599" y="2318197"/>
            <a:ext cx="9724031" cy="3683358"/>
          </a:xfrm>
        </p:spPr>
        <p:txBody>
          <a:bodyPr anchor="ctr">
            <a:normAutofit/>
          </a:bodyPr>
          <a:lstStyle/>
          <a:p>
            <a:pPr marL="0" lvl="0" indent="0">
              <a:buNone/>
            </a:pPr>
            <a:endParaRPr lang="en-US" dirty="0"/>
          </a:p>
          <a:p>
            <a:pPr lvl="0"/>
            <a:endParaRPr lang="en-US" dirty="0"/>
          </a:p>
          <a:p>
            <a:pPr lvl="0"/>
            <a:endParaRPr lang="en-US" dirty="0"/>
          </a:p>
          <a:p>
            <a:pPr lvl="0"/>
            <a:endParaRPr lang="en-US" dirty="0"/>
          </a:p>
          <a:p>
            <a:pPr marL="0" lvl="0" indent="0">
              <a:buNone/>
            </a:pPr>
            <a:endParaRPr lang="en-US" dirty="0"/>
          </a:p>
          <a:p>
            <a:pPr marL="0" lvl="0" indent="0">
              <a:buNone/>
            </a:pPr>
            <a:endParaRPr lang="en-US" dirty="0"/>
          </a:p>
        </p:txBody>
      </p:sp>
      <p:graphicFrame>
        <p:nvGraphicFramePr>
          <p:cNvPr id="4" name="Chart 3">
            <a:extLst>
              <a:ext uri="{FF2B5EF4-FFF2-40B4-BE49-F238E27FC236}">
                <a16:creationId xmlns:a16="http://schemas.microsoft.com/office/drawing/2014/main" id="{8D1BF539-A77B-034D-AFFD-DC82D258BDDE}"/>
              </a:ext>
            </a:extLst>
          </p:cNvPr>
          <p:cNvGraphicFramePr/>
          <p:nvPr>
            <p:extLst>
              <p:ext uri="{D42A27DB-BD31-4B8C-83A1-F6EECF244321}">
                <p14:modId xmlns:p14="http://schemas.microsoft.com/office/powerpoint/2010/main" val="226455214"/>
              </p:ext>
            </p:extLst>
          </p:nvPr>
        </p:nvGraphicFramePr>
        <p:xfrm>
          <a:off x="2032000" y="2786063"/>
          <a:ext cx="3683000" cy="2428876"/>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descr="A colorful circle with text&#10;&#10;Description automatically generated with medium confidence">
            <a:extLst>
              <a:ext uri="{FF2B5EF4-FFF2-40B4-BE49-F238E27FC236}">
                <a16:creationId xmlns:a16="http://schemas.microsoft.com/office/drawing/2014/main" id="{993FEE80-E2B1-F9C5-B9E3-965A127D9A2C}"/>
              </a:ext>
            </a:extLst>
          </p:cNvPr>
          <p:cNvPicPr>
            <a:picLocks noChangeAspect="1"/>
          </p:cNvPicPr>
          <p:nvPr/>
        </p:nvPicPr>
        <p:blipFill>
          <a:blip r:embed="rId3"/>
          <a:stretch>
            <a:fillRect/>
          </a:stretch>
        </p:blipFill>
        <p:spPr>
          <a:xfrm>
            <a:off x="41206" y="1597432"/>
            <a:ext cx="4761193" cy="3540333"/>
          </a:xfrm>
          <a:prstGeom prst="rect">
            <a:avLst/>
          </a:prstGeom>
        </p:spPr>
      </p:pic>
      <p:pic>
        <p:nvPicPr>
          <p:cNvPr id="10" name="Picture 9" descr="A colorful circle with numbers&#10;&#10;Description automatically generated">
            <a:extLst>
              <a:ext uri="{FF2B5EF4-FFF2-40B4-BE49-F238E27FC236}">
                <a16:creationId xmlns:a16="http://schemas.microsoft.com/office/drawing/2014/main" id="{C7BCE037-E8E1-E051-EAB0-869B83416DB0}"/>
              </a:ext>
            </a:extLst>
          </p:cNvPr>
          <p:cNvPicPr>
            <a:picLocks noChangeAspect="1"/>
          </p:cNvPicPr>
          <p:nvPr/>
        </p:nvPicPr>
        <p:blipFill>
          <a:blip r:embed="rId4"/>
          <a:stretch>
            <a:fillRect/>
          </a:stretch>
        </p:blipFill>
        <p:spPr>
          <a:xfrm>
            <a:off x="8975833" y="1636369"/>
            <a:ext cx="3174961" cy="3159361"/>
          </a:xfrm>
          <a:prstGeom prst="rect">
            <a:avLst/>
          </a:prstGeom>
        </p:spPr>
      </p:pic>
      <p:sp>
        <p:nvSpPr>
          <p:cNvPr id="13" name="TextBox 12">
            <a:extLst>
              <a:ext uri="{FF2B5EF4-FFF2-40B4-BE49-F238E27FC236}">
                <a16:creationId xmlns:a16="http://schemas.microsoft.com/office/drawing/2014/main" id="{7D8E4DBA-6324-20B3-B51D-47BBE56F8D8F}"/>
              </a:ext>
            </a:extLst>
          </p:cNvPr>
          <p:cNvSpPr txBox="1"/>
          <p:nvPr/>
        </p:nvSpPr>
        <p:spPr>
          <a:xfrm>
            <a:off x="4319745" y="1643061"/>
            <a:ext cx="4761193" cy="4539704"/>
          </a:xfrm>
          <a:prstGeom prst="rect">
            <a:avLst/>
          </a:prstGeom>
          <a:noFill/>
        </p:spPr>
        <p:txBody>
          <a:bodyPr wrap="square" rtlCol="0">
            <a:spAutoFit/>
          </a:bodyPr>
          <a:lstStyle/>
          <a:p>
            <a:pPr marL="742950" lvl="1" indent="-285750" algn="l">
              <a:buFont typeface="+mj-lt"/>
              <a:buAutoNum type="arabicPeriod"/>
            </a:pPr>
            <a:r>
              <a:rPr lang="en-US" sz="1050" b="1" i="0" u="none" strike="noStrike" dirty="0">
                <a:solidFill>
                  <a:srgbClr val="000000"/>
                </a:solidFill>
                <a:effectLst/>
              </a:rPr>
              <a:t>White</a:t>
            </a:r>
            <a:r>
              <a:rPr lang="en-US" sz="1050" b="0" i="0" u="none" strike="noStrike" dirty="0">
                <a:solidFill>
                  <a:srgbClr val="000000"/>
                </a:solidFill>
                <a:effectLst/>
              </a:rPr>
              <a:t> and </a:t>
            </a:r>
            <a:r>
              <a:rPr lang="en-US" sz="1050" b="1" i="0" u="none" strike="noStrike" dirty="0">
                <a:solidFill>
                  <a:srgbClr val="000000"/>
                </a:solidFill>
                <a:effectLst/>
              </a:rPr>
              <a:t>Female</a:t>
            </a:r>
            <a:r>
              <a:rPr lang="en-US" sz="1050" b="0" i="0" u="none" strike="noStrike" dirty="0">
                <a:solidFill>
                  <a:srgbClr val="000000"/>
                </a:solidFill>
                <a:effectLst/>
              </a:rPr>
              <a:t> demographic groups appear to have larger slices in the </a:t>
            </a:r>
            <a:r>
              <a:rPr lang="en-US" sz="1050" b="1" i="0" u="none" strike="noStrike" dirty="0">
                <a:solidFill>
                  <a:srgbClr val="000000"/>
                </a:solidFill>
                <a:effectLst/>
              </a:rPr>
              <a:t>observed</a:t>
            </a:r>
            <a:r>
              <a:rPr lang="en-US" sz="1050" b="0" i="0" u="none" strike="noStrike" dirty="0">
                <a:solidFill>
                  <a:srgbClr val="000000"/>
                </a:solidFill>
                <a:effectLst/>
              </a:rPr>
              <a:t> graph compared to the </a:t>
            </a:r>
            <a:r>
              <a:rPr lang="en-US" sz="1050" b="1" i="0" u="none" strike="noStrike" dirty="0">
                <a:solidFill>
                  <a:srgbClr val="000000"/>
                </a:solidFill>
                <a:effectLst/>
              </a:rPr>
              <a:t>expected</a:t>
            </a:r>
            <a:r>
              <a:rPr lang="en-US" sz="1050" b="0" i="0" u="none" strike="noStrike" dirty="0">
                <a:solidFill>
                  <a:srgbClr val="000000"/>
                </a:solidFill>
                <a:effectLst/>
              </a:rPr>
              <a:t> graph, indicating that these groups are </a:t>
            </a:r>
            <a:r>
              <a:rPr lang="en-US" sz="1050" b="1" i="0" u="none" strike="noStrike" dirty="0">
                <a:solidFill>
                  <a:srgbClr val="000000"/>
                </a:solidFill>
                <a:effectLst/>
              </a:rPr>
              <a:t>overrepresented</a:t>
            </a:r>
            <a:r>
              <a:rPr lang="en-US" sz="1050" b="0" i="0" u="none" strike="noStrike" dirty="0">
                <a:solidFill>
                  <a:srgbClr val="000000"/>
                </a:solidFill>
                <a:effectLst/>
              </a:rPr>
              <a:t> in the program.</a:t>
            </a:r>
          </a:p>
          <a:p>
            <a:pPr marL="742950" lvl="1" indent="-285750" algn="l">
              <a:buFont typeface="+mj-lt"/>
              <a:buAutoNum type="arabicPeriod"/>
            </a:pPr>
            <a:r>
              <a:rPr lang="en-US" sz="1050" b="1" i="0" u="none" strike="noStrike" dirty="0">
                <a:solidFill>
                  <a:srgbClr val="000000"/>
                </a:solidFill>
                <a:effectLst/>
              </a:rPr>
              <a:t>Asian or Asian American</a:t>
            </a:r>
            <a:r>
              <a:rPr lang="en-US" sz="1050" b="0" i="0" u="none" strike="noStrike" dirty="0">
                <a:solidFill>
                  <a:srgbClr val="000000"/>
                </a:solidFill>
                <a:effectLst/>
              </a:rPr>
              <a:t> and </a:t>
            </a:r>
            <a:r>
              <a:rPr lang="en-US" sz="1050" b="1" i="0" u="none" strike="noStrike" dirty="0">
                <a:solidFill>
                  <a:srgbClr val="000000"/>
                </a:solidFill>
                <a:effectLst/>
              </a:rPr>
              <a:t>American Indian or Alaska Native</a:t>
            </a:r>
            <a:r>
              <a:rPr lang="en-US" sz="1050" b="0" i="0" u="none" strike="noStrike" dirty="0">
                <a:solidFill>
                  <a:srgbClr val="000000"/>
                </a:solidFill>
                <a:effectLst/>
              </a:rPr>
              <a:t> groups have smaller slices in the </a:t>
            </a:r>
            <a:r>
              <a:rPr lang="en-US" sz="1050" b="1" i="0" u="none" strike="noStrike" dirty="0">
                <a:solidFill>
                  <a:srgbClr val="000000"/>
                </a:solidFill>
                <a:effectLst/>
              </a:rPr>
              <a:t>observed</a:t>
            </a:r>
            <a:r>
              <a:rPr lang="en-US" sz="1050" b="0" i="0" u="none" strike="noStrike" dirty="0">
                <a:solidFill>
                  <a:srgbClr val="000000"/>
                </a:solidFill>
                <a:effectLst/>
              </a:rPr>
              <a:t> graph compared to the </a:t>
            </a:r>
            <a:r>
              <a:rPr lang="en-US" sz="1050" b="1" i="0" u="none" strike="noStrike" dirty="0">
                <a:solidFill>
                  <a:srgbClr val="000000"/>
                </a:solidFill>
                <a:effectLst/>
              </a:rPr>
              <a:t>expected</a:t>
            </a:r>
            <a:r>
              <a:rPr lang="en-US" sz="1050" b="0" i="0" u="none" strike="noStrike" dirty="0">
                <a:solidFill>
                  <a:srgbClr val="000000"/>
                </a:solidFill>
                <a:effectLst/>
              </a:rPr>
              <a:t> graph, indicating </a:t>
            </a:r>
            <a:r>
              <a:rPr lang="en-US" sz="1050" b="1" i="0" u="none" strike="noStrike" dirty="0">
                <a:solidFill>
                  <a:srgbClr val="000000"/>
                </a:solidFill>
                <a:effectLst/>
              </a:rPr>
              <a:t>underrepresentation</a:t>
            </a:r>
            <a:r>
              <a:rPr lang="en-US" sz="1050" b="0" i="0" u="none" strike="noStrike" dirty="0">
                <a:solidFill>
                  <a:srgbClr val="000000"/>
                </a:solidFill>
                <a:effectLst/>
              </a:rPr>
              <a:t>.</a:t>
            </a:r>
          </a:p>
          <a:p>
            <a:pPr marL="742950" lvl="1" indent="-285750" algn="l">
              <a:buFont typeface="+mj-lt"/>
              <a:buAutoNum type="arabicPeriod"/>
            </a:pPr>
            <a:r>
              <a:rPr lang="en-US" sz="1050" b="0" i="0" u="none" strike="noStrike" dirty="0">
                <a:solidFill>
                  <a:srgbClr val="000000"/>
                </a:solidFill>
                <a:effectLst/>
              </a:rPr>
              <a:t>The </a:t>
            </a:r>
            <a:r>
              <a:rPr lang="en-US" sz="1050" b="1" i="0" u="none" strike="noStrike" dirty="0">
                <a:solidFill>
                  <a:srgbClr val="000000"/>
                </a:solidFill>
                <a:effectLst/>
              </a:rPr>
              <a:t>Bachelor's Degree or Higher</a:t>
            </a:r>
            <a:r>
              <a:rPr lang="en-US" sz="1050" b="0" i="0" u="none" strike="noStrike" dirty="0">
                <a:solidFill>
                  <a:srgbClr val="000000"/>
                </a:solidFill>
                <a:effectLst/>
              </a:rPr>
              <a:t> group, which is likely associated with education levels, also has a noticeably larger slice in the observed chart, suggesting </a:t>
            </a:r>
            <a:r>
              <a:rPr lang="en-US" sz="1050" b="1" i="0" u="none" strike="noStrike" dirty="0">
                <a:solidFill>
                  <a:srgbClr val="000000"/>
                </a:solidFill>
                <a:effectLst/>
              </a:rPr>
              <a:t>overrepresentation</a:t>
            </a:r>
            <a:r>
              <a:rPr lang="en-US" sz="1050" b="0" i="0" u="none" strike="noStrike" dirty="0">
                <a:solidFill>
                  <a:srgbClr val="000000"/>
                </a:solidFill>
                <a:effectLst/>
              </a:rPr>
              <a:t> of more highly educated individuals.</a:t>
            </a:r>
          </a:p>
          <a:p>
            <a:pPr algn="l">
              <a:buFont typeface="+mj-lt"/>
              <a:buAutoNum type="arabicPeriod"/>
            </a:pPr>
            <a:r>
              <a:rPr lang="en-US" sz="1050" b="1" i="0" u="none" strike="noStrike" dirty="0">
                <a:solidFill>
                  <a:srgbClr val="000000"/>
                </a:solidFill>
                <a:effectLst/>
              </a:rPr>
              <a:t>Proportional Representation</a:t>
            </a:r>
            <a:r>
              <a:rPr lang="en-US" sz="1050" b="0" i="0" u="none" strike="noStrike" dirty="0">
                <a:solidFill>
                  <a:srgbClr val="000000"/>
                </a:solidFill>
                <a:effectLst/>
              </a:rPr>
              <a:t>:</a:t>
            </a:r>
          </a:p>
          <a:p>
            <a:pPr marL="742950" lvl="1" indent="-285750" algn="l">
              <a:buFont typeface="+mj-lt"/>
              <a:buAutoNum type="arabicPeriod"/>
            </a:pPr>
            <a:r>
              <a:rPr lang="en-US" sz="1050" b="0" i="0" u="none" strike="noStrike" dirty="0">
                <a:solidFill>
                  <a:srgbClr val="000000"/>
                </a:solidFill>
                <a:effectLst/>
              </a:rPr>
              <a:t>If the two charts had identical slices, it would mean that AmeriCorps’ participant demographics perfectly reflect the general population. However, differences in slice sizes show where AmeriCorps’ recruitment and participation differ from the general population's demographic makeup.</a:t>
            </a:r>
          </a:p>
          <a:p>
            <a:pPr algn="l"/>
            <a:r>
              <a:rPr lang="en-US" sz="1050" b="1" i="0" u="none" strike="noStrike" dirty="0">
                <a:solidFill>
                  <a:srgbClr val="000000"/>
                </a:solidFill>
                <a:effectLst/>
              </a:rPr>
              <a:t>Conclusion of this check :</a:t>
            </a:r>
          </a:p>
          <a:p>
            <a:pPr algn="l">
              <a:buFont typeface="Arial" panose="020B0604020202020204" pitchFamily="34" charset="0"/>
              <a:buChar char="•"/>
            </a:pPr>
            <a:r>
              <a:rPr lang="en-US" sz="1050" b="0" i="0" u="none" strike="noStrike" dirty="0">
                <a:solidFill>
                  <a:srgbClr val="000000"/>
                </a:solidFill>
                <a:effectLst/>
              </a:rPr>
              <a:t>The </a:t>
            </a:r>
            <a:r>
              <a:rPr lang="en-US" sz="1050" b="1" i="0" u="none" strike="noStrike" dirty="0">
                <a:solidFill>
                  <a:srgbClr val="000000"/>
                </a:solidFill>
                <a:effectLst/>
              </a:rPr>
              <a:t>expected proportions</a:t>
            </a:r>
            <a:r>
              <a:rPr lang="en-US" sz="1050" b="0" i="0" u="none" strike="noStrike" dirty="0">
                <a:solidFill>
                  <a:srgbClr val="000000"/>
                </a:solidFill>
                <a:effectLst/>
              </a:rPr>
              <a:t> graph shows how AmeriCorps participants would be distributed across demographic groups if they reflected the general population.</a:t>
            </a:r>
          </a:p>
          <a:p>
            <a:pPr algn="l">
              <a:buFont typeface="Arial" panose="020B0604020202020204" pitchFamily="34" charset="0"/>
              <a:buChar char="•"/>
            </a:pPr>
            <a:r>
              <a:rPr lang="en-US" sz="1050" b="0" i="0" u="none" strike="noStrike" dirty="0">
                <a:solidFill>
                  <a:srgbClr val="000000"/>
                </a:solidFill>
                <a:effectLst/>
              </a:rPr>
              <a:t>The </a:t>
            </a:r>
            <a:r>
              <a:rPr lang="en-US" sz="1050" b="1" i="0" u="none" strike="noStrike" dirty="0">
                <a:solidFill>
                  <a:srgbClr val="000000"/>
                </a:solidFill>
                <a:effectLst/>
              </a:rPr>
              <a:t>observed proportions</a:t>
            </a:r>
            <a:r>
              <a:rPr lang="en-US" sz="1050" b="0" i="0" u="none" strike="noStrike" dirty="0">
                <a:solidFill>
                  <a:srgbClr val="000000"/>
                </a:solidFill>
                <a:effectLst/>
              </a:rPr>
              <a:t> graph shows how participants are actually distributed, revealing that certain groups (e.g., </a:t>
            </a:r>
            <a:r>
              <a:rPr lang="en-US" sz="1050" b="1" i="0" u="none" strike="noStrike" dirty="0">
                <a:solidFill>
                  <a:srgbClr val="000000"/>
                </a:solidFill>
                <a:effectLst/>
              </a:rPr>
              <a:t>White</a:t>
            </a:r>
            <a:r>
              <a:rPr lang="en-US" sz="1050" b="0" i="0" u="none" strike="noStrike" dirty="0">
                <a:solidFill>
                  <a:srgbClr val="000000"/>
                </a:solidFill>
                <a:effectLst/>
              </a:rPr>
              <a:t>, </a:t>
            </a:r>
            <a:r>
              <a:rPr lang="en-US" sz="1050" b="1" i="0" u="none" strike="noStrike" dirty="0">
                <a:solidFill>
                  <a:srgbClr val="000000"/>
                </a:solidFill>
                <a:effectLst/>
              </a:rPr>
              <a:t>Female</a:t>
            </a:r>
            <a:r>
              <a:rPr lang="en-US" sz="1050" b="0" i="0" u="none" strike="noStrike" dirty="0">
                <a:solidFill>
                  <a:srgbClr val="000000"/>
                </a:solidFill>
                <a:effectLst/>
              </a:rPr>
              <a:t>, and </a:t>
            </a:r>
            <a:r>
              <a:rPr lang="en-US" sz="1050" b="1" i="0" u="none" strike="noStrike" dirty="0">
                <a:solidFill>
                  <a:srgbClr val="000000"/>
                </a:solidFill>
                <a:effectLst/>
              </a:rPr>
              <a:t>higher education</a:t>
            </a:r>
            <a:r>
              <a:rPr lang="en-US" sz="1050" b="0" i="0" u="none" strike="noStrike" dirty="0">
                <a:solidFill>
                  <a:srgbClr val="000000"/>
                </a:solidFill>
                <a:effectLst/>
              </a:rPr>
              <a:t>) are </a:t>
            </a:r>
            <a:r>
              <a:rPr lang="en-US" sz="1050" b="1" i="0" u="none" strike="noStrike" dirty="0">
                <a:solidFill>
                  <a:srgbClr val="000000"/>
                </a:solidFill>
                <a:effectLst/>
              </a:rPr>
              <a:t>overrepresented</a:t>
            </a:r>
            <a:r>
              <a:rPr lang="en-US" sz="1050" b="0" i="0" u="none" strike="noStrike" dirty="0">
                <a:solidFill>
                  <a:srgbClr val="000000"/>
                </a:solidFill>
                <a:effectLst/>
              </a:rPr>
              <a:t>, while others (e.g., </a:t>
            </a:r>
            <a:r>
              <a:rPr lang="en-US" sz="1050" b="1" i="0" u="none" strike="noStrike" dirty="0">
                <a:solidFill>
                  <a:srgbClr val="000000"/>
                </a:solidFill>
                <a:effectLst/>
              </a:rPr>
              <a:t>Asian or Asian American</a:t>
            </a:r>
            <a:r>
              <a:rPr lang="en-US" sz="1050" b="0" i="0" u="none" strike="noStrike" dirty="0">
                <a:solidFill>
                  <a:srgbClr val="000000"/>
                </a:solidFill>
                <a:effectLst/>
              </a:rPr>
              <a:t>, </a:t>
            </a:r>
            <a:r>
              <a:rPr lang="en-US" sz="1050" b="1" i="0" u="none" strike="noStrike" dirty="0">
                <a:solidFill>
                  <a:srgbClr val="000000"/>
                </a:solidFill>
                <a:effectLst/>
              </a:rPr>
              <a:t>American Indian or Alaska Native</a:t>
            </a:r>
            <a:r>
              <a:rPr lang="en-US" sz="1050" b="0" i="0" u="none" strike="noStrike" dirty="0">
                <a:solidFill>
                  <a:srgbClr val="000000"/>
                </a:solidFill>
                <a:effectLst/>
              </a:rPr>
              <a:t>) are </a:t>
            </a:r>
            <a:r>
              <a:rPr lang="en-US" sz="1050" b="1" i="0" u="none" strike="noStrike" dirty="0">
                <a:solidFill>
                  <a:srgbClr val="000000"/>
                </a:solidFill>
                <a:effectLst/>
              </a:rPr>
              <a:t>underrepresented</a:t>
            </a:r>
            <a:r>
              <a:rPr lang="en-US" sz="1050" b="0" i="0" u="none" strike="noStrike" dirty="0">
                <a:solidFill>
                  <a:srgbClr val="000000"/>
                </a:solidFill>
                <a:effectLst/>
              </a:rPr>
              <a:t>.</a:t>
            </a:r>
          </a:p>
          <a:p>
            <a:endParaRPr lang="en-US" sz="1600" dirty="0"/>
          </a:p>
        </p:txBody>
      </p:sp>
      <p:pic>
        <p:nvPicPr>
          <p:cNvPr id="15" name="Picture 14" descr="A graph with blue and black squares&#10;&#10;Description automatically generated">
            <a:extLst>
              <a:ext uri="{FF2B5EF4-FFF2-40B4-BE49-F238E27FC236}">
                <a16:creationId xmlns:a16="http://schemas.microsoft.com/office/drawing/2014/main" id="{50BE41FD-5C66-ED75-1783-EB12C64DF686}"/>
              </a:ext>
            </a:extLst>
          </p:cNvPr>
          <p:cNvPicPr>
            <a:picLocks noChangeAspect="1"/>
          </p:cNvPicPr>
          <p:nvPr/>
        </p:nvPicPr>
        <p:blipFill>
          <a:blip r:embed="rId5"/>
          <a:stretch>
            <a:fillRect/>
          </a:stretch>
        </p:blipFill>
        <p:spPr>
          <a:xfrm>
            <a:off x="135131" y="4955109"/>
            <a:ext cx="4184613" cy="1902891"/>
          </a:xfrm>
          <a:prstGeom prst="rect">
            <a:avLst/>
          </a:prstGeom>
        </p:spPr>
      </p:pic>
    </p:spTree>
    <p:extLst>
      <p:ext uri="{BB962C8B-B14F-4D97-AF65-F5344CB8AC3E}">
        <p14:creationId xmlns:p14="http://schemas.microsoft.com/office/powerpoint/2010/main" val="269991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F69E-262A-6318-152D-A43ABD1E3908}"/>
              </a:ext>
            </a:extLst>
          </p:cNvPr>
          <p:cNvSpPr>
            <a:spLocks noGrp="1"/>
          </p:cNvSpPr>
          <p:nvPr>
            <p:ph type="title"/>
          </p:nvPr>
        </p:nvSpPr>
        <p:spPr>
          <a:xfrm>
            <a:off x="838200" y="365126"/>
            <a:ext cx="10323786" cy="948668"/>
          </a:xfrm>
        </p:spPr>
        <p:txBody>
          <a:bodyPr>
            <a:normAutofit/>
          </a:bodyPr>
          <a:lstStyle/>
          <a:p>
            <a:r>
              <a:rPr lang="en-US" sz="2400" dirty="0"/>
              <a:t>Which groups are overrepresented or underrepresented in AmeriCorps?</a:t>
            </a:r>
            <a:br>
              <a:rPr lang="en-US" sz="2400" dirty="0"/>
            </a:br>
            <a:endParaRPr lang="en-US" sz="2400" dirty="0"/>
          </a:p>
        </p:txBody>
      </p:sp>
      <p:pic>
        <p:nvPicPr>
          <p:cNvPr id="8" name="Picture 7" descr="A graph with different colored bars&#10;&#10;Description automatically generated">
            <a:extLst>
              <a:ext uri="{FF2B5EF4-FFF2-40B4-BE49-F238E27FC236}">
                <a16:creationId xmlns:a16="http://schemas.microsoft.com/office/drawing/2014/main" id="{E31120CA-FDE7-5536-4890-76F45F2B3C27}"/>
              </a:ext>
            </a:extLst>
          </p:cNvPr>
          <p:cNvPicPr>
            <a:picLocks noChangeAspect="1"/>
          </p:cNvPicPr>
          <p:nvPr/>
        </p:nvPicPr>
        <p:blipFill>
          <a:blip r:embed="rId3"/>
          <a:stretch>
            <a:fillRect/>
          </a:stretch>
        </p:blipFill>
        <p:spPr>
          <a:xfrm>
            <a:off x="6096000" y="1400176"/>
            <a:ext cx="6096000" cy="3629888"/>
          </a:xfrm>
          <a:prstGeom prst="rect">
            <a:avLst/>
          </a:prstGeom>
        </p:spPr>
      </p:pic>
      <p:sp>
        <p:nvSpPr>
          <p:cNvPr id="10" name="TextBox 9">
            <a:extLst>
              <a:ext uri="{FF2B5EF4-FFF2-40B4-BE49-F238E27FC236}">
                <a16:creationId xmlns:a16="http://schemas.microsoft.com/office/drawing/2014/main" id="{07249921-E945-A879-82D4-0120AA038F03}"/>
              </a:ext>
            </a:extLst>
          </p:cNvPr>
          <p:cNvSpPr txBox="1"/>
          <p:nvPr/>
        </p:nvSpPr>
        <p:spPr>
          <a:xfrm>
            <a:off x="157655" y="1313793"/>
            <a:ext cx="5843752" cy="4924425"/>
          </a:xfrm>
          <a:prstGeom prst="rect">
            <a:avLst/>
          </a:prstGeom>
          <a:noFill/>
        </p:spPr>
        <p:txBody>
          <a:bodyPr wrap="square" rtlCol="0">
            <a:spAutoFit/>
          </a:bodyPr>
          <a:lstStyle/>
          <a:p>
            <a:pPr algn="l"/>
            <a:r>
              <a:rPr lang="en-US" sz="1200" b="1" i="0" u="none" strike="noStrike" dirty="0">
                <a:solidFill>
                  <a:srgbClr val="000000"/>
                </a:solidFill>
                <a:effectLst/>
              </a:rPr>
              <a:t>Key Observations:</a:t>
            </a:r>
          </a:p>
          <a:p>
            <a:pPr algn="l">
              <a:buFont typeface="+mj-lt"/>
              <a:buAutoNum type="arabicPeriod"/>
            </a:pPr>
            <a:r>
              <a:rPr lang="en-US" sz="1200" b="1" i="0" u="none" strike="noStrike" dirty="0">
                <a:solidFill>
                  <a:srgbClr val="000000"/>
                </a:solidFill>
                <a:effectLst/>
              </a:rPr>
              <a:t>Native Hawaiian and Other Pacific Islander</a:t>
            </a:r>
            <a:r>
              <a:rPr lang="en-US" sz="1200" b="0" i="0" u="none" strike="noStrike" dirty="0">
                <a:solidFill>
                  <a:srgbClr val="000000"/>
                </a:solidFill>
                <a:effectLst/>
              </a:rPr>
              <a:t> Group:</a:t>
            </a:r>
          </a:p>
          <a:p>
            <a:pPr marL="742950" lvl="1" indent="-285750" algn="l">
              <a:buFont typeface="+mj-lt"/>
              <a:buAutoNum type="arabicPeriod"/>
            </a:pPr>
            <a:r>
              <a:rPr lang="en-US" sz="1200" b="0" i="0" u="none" strike="noStrike" dirty="0">
                <a:solidFill>
                  <a:srgbClr val="000000"/>
                </a:solidFill>
                <a:effectLst/>
              </a:rPr>
              <a:t>This group has a </a:t>
            </a:r>
            <a:r>
              <a:rPr lang="en-US" sz="1200" b="1" i="0" u="none" strike="noStrike" dirty="0">
                <a:solidFill>
                  <a:srgbClr val="000000"/>
                </a:solidFill>
                <a:effectLst/>
              </a:rPr>
              <a:t>very high representation ratio</a:t>
            </a:r>
            <a:r>
              <a:rPr lang="en-US" sz="1200" b="0" i="0" u="none" strike="noStrike" dirty="0">
                <a:solidFill>
                  <a:srgbClr val="000000"/>
                </a:solidFill>
                <a:effectLst/>
              </a:rPr>
              <a:t>, significantly exceeding the expected value with a ratio around </a:t>
            </a:r>
            <a:r>
              <a:rPr lang="en-US" sz="1200" b="1" i="0" u="none" strike="noStrike" dirty="0">
                <a:solidFill>
                  <a:srgbClr val="000000"/>
                </a:solidFill>
                <a:effectLst/>
              </a:rPr>
              <a:t>3000</a:t>
            </a:r>
            <a:r>
              <a:rPr lang="en-US" sz="1200" b="0" i="0" u="none" strike="noStrike" dirty="0">
                <a:solidFill>
                  <a:srgbClr val="000000"/>
                </a:solidFill>
                <a:effectLst/>
              </a:rPr>
              <a:t>. This indicates that </a:t>
            </a:r>
            <a:r>
              <a:rPr lang="en-US" sz="1200" b="1" i="0" u="none" strike="noStrike" dirty="0">
                <a:solidFill>
                  <a:srgbClr val="000000"/>
                </a:solidFill>
                <a:effectLst/>
              </a:rPr>
              <a:t>Native Hawaiian and Other Pacific Islander</a:t>
            </a:r>
            <a:r>
              <a:rPr lang="en-US" sz="1200" b="0" i="0" u="none" strike="noStrike" dirty="0">
                <a:solidFill>
                  <a:srgbClr val="000000"/>
                </a:solidFill>
                <a:effectLst/>
              </a:rPr>
              <a:t> participants are </a:t>
            </a:r>
            <a:r>
              <a:rPr lang="en-US" sz="1200" b="1" i="0" u="none" strike="noStrike" dirty="0">
                <a:solidFill>
                  <a:srgbClr val="000000"/>
                </a:solidFill>
                <a:effectLst/>
              </a:rPr>
              <a:t>overrepresented</a:t>
            </a:r>
            <a:r>
              <a:rPr lang="en-US" sz="1200" b="0" i="0" u="none" strike="noStrike" dirty="0">
                <a:solidFill>
                  <a:srgbClr val="000000"/>
                </a:solidFill>
                <a:effectLst/>
              </a:rPr>
              <a:t> in the AmeriCorps program compared to their expected population proportion.</a:t>
            </a:r>
          </a:p>
          <a:p>
            <a:pPr algn="l">
              <a:buFont typeface="+mj-lt"/>
              <a:buAutoNum type="arabicPeriod"/>
            </a:pPr>
            <a:r>
              <a:rPr lang="en-US" sz="1200" b="1" i="0" u="none" strike="noStrike" dirty="0">
                <a:solidFill>
                  <a:srgbClr val="000000"/>
                </a:solidFill>
                <a:effectLst/>
              </a:rPr>
              <a:t>American Indian or Alaska Native</a:t>
            </a:r>
            <a:r>
              <a:rPr lang="en-US" sz="12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This group is also </a:t>
            </a:r>
            <a:r>
              <a:rPr lang="en-US" sz="1200" b="1" i="0" u="none" strike="noStrike" dirty="0">
                <a:solidFill>
                  <a:srgbClr val="000000"/>
                </a:solidFill>
                <a:effectLst/>
              </a:rPr>
              <a:t>overrepresented</a:t>
            </a:r>
            <a:r>
              <a:rPr lang="en-US" sz="1200" b="0" i="0" u="none" strike="noStrike" dirty="0">
                <a:solidFill>
                  <a:srgbClr val="000000"/>
                </a:solidFill>
                <a:effectLst/>
              </a:rPr>
              <a:t>, with a representation ratio over </a:t>
            </a:r>
            <a:r>
              <a:rPr lang="en-US" sz="1200" b="1" i="0" u="none" strike="noStrike" dirty="0">
                <a:solidFill>
                  <a:srgbClr val="000000"/>
                </a:solidFill>
                <a:effectLst/>
              </a:rPr>
              <a:t>1000</a:t>
            </a:r>
            <a:r>
              <a:rPr lang="en-US" sz="1200" b="0" i="0" u="none" strike="noStrike" dirty="0">
                <a:solidFill>
                  <a:srgbClr val="000000"/>
                </a:solidFill>
                <a:effectLst/>
              </a:rPr>
              <a:t>, showing that the number of participants from this group far exceeds the expected value based on population size.</a:t>
            </a:r>
          </a:p>
          <a:p>
            <a:pPr algn="l">
              <a:buFont typeface="+mj-lt"/>
              <a:buAutoNum type="arabicPeriod"/>
            </a:pPr>
            <a:r>
              <a:rPr lang="en-US" sz="1200" b="1" i="0" u="none" strike="noStrike" dirty="0">
                <a:solidFill>
                  <a:srgbClr val="000000"/>
                </a:solidFill>
                <a:effectLst/>
              </a:rPr>
              <a:t>Black or African American</a:t>
            </a:r>
            <a:r>
              <a:rPr lang="en-US" sz="1200" b="0" i="0" u="none" strike="noStrike" dirty="0">
                <a:solidFill>
                  <a:srgbClr val="000000"/>
                </a:solidFill>
                <a:effectLst/>
              </a:rPr>
              <a:t> and </a:t>
            </a:r>
            <a:r>
              <a:rPr lang="en-US" sz="1200" b="1" i="0" u="none" strike="noStrike" dirty="0">
                <a:solidFill>
                  <a:srgbClr val="000000"/>
                </a:solidFill>
                <a:effectLst/>
              </a:rPr>
              <a:t>White</a:t>
            </a:r>
            <a:r>
              <a:rPr lang="en-US" sz="1200" b="0" i="0" u="none" strike="noStrike" dirty="0">
                <a:solidFill>
                  <a:srgbClr val="000000"/>
                </a:solidFill>
                <a:effectLst/>
              </a:rPr>
              <a:t> Groups:</a:t>
            </a:r>
          </a:p>
          <a:p>
            <a:pPr marL="742950" lvl="1" indent="-285750" algn="l">
              <a:buFont typeface="+mj-lt"/>
              <a:buAutoNum type="arabicPeriod"/>
            </a:pPr>
            <a:r>
              <a:rPr lang="en-US" sz="1200" b="0" i="0" u="none" strike="noStrike" dirty="0">
                <a:solidFill>
                  <a:srgbClr val="000000"/>
                </a:solidFill>
                <a:effectLst/>
              </a:rPr>
              <a:t>These groups also show </a:t>
            </a:r>
            <a:r>
              <a:rPr lang="en-US" sz="1200" b="1" i="0" u="none" strike="noStrike" dirty="0">
                <a:solidFill>
                  <a:srgbClr val="000000"/>
                </a:solidFill>
                <a:effectLst/>
              </a:rPr>
              <a:t>overrepresentation</a:t>
            </a:r>
            <a:r>
              <a:rPr lang="en-US" sz="1200" b="0" i="0" u="none" strike="noStrike" dirty="0">
                <a:solidFill>
                  <a:srgbClr val="000000"/>
                </a:solidFill>
                <a:effectLst/>
              </a:rPr>
              <a:t>, with ratios around </a:t>
            </a:r>
            <a:r>
              <a:rPr lang="en-US" sz="1200" b="1" i="0" u="none" strike="noStrike" dirty="0">
                <a:solidFill>
                  <a:srgbClr val="000000"/>
                </a:solidFill>
                <a:effectLst/>
              </a:rPr>
              <a:t>1000</a:t>
            </a:r>
            <a:r>
              <a:rPr lang="en-US" sz="1200" b="0" i="0" u="none" strike="noStrike" dirty="0">
                <a:solidFill>
                  <a:srgbClr val="000000"/>
                </a:solidFill>
                <a:effectLst/>
              </a:rPr>
              <a:t> and </a:t>
            </a:r>
            <a:r>
              <a:rPr lang="en-US" sz="1200" b="1" i="0" u="none" strike="noStrike" dirty="0">
                <a:solidFill>
                  <a:srgbClr val="000000"/>
                </a:solidFill>
                <a:effectLst/>
              </a:rPr>
              <a:t>700</a:t>
            </a:r>
            <a:r>
              <a:rPr lang="en-US" sz="1200" b="0" i="0" u="none" strike="noStrike" dirty="0">
                <a:solidFill>
                  <a:srgbClr val="000000"/>
                </a:solidFill>
                <a:effectLst/>
              </a:rPr>
              <a:t>, respectively. They are engaged in AmeriCorps at a higher rate than expected, but not as dramatically as the Native Hawaiian group.</a:t>
            </a:r>
          </a:p>
          <a:p>
            <a:pPr algn="l">
              <a:buFont typeface="+mj-lt"/>
              <a:buAutoNum type="arabicPeriod"/>
            </a:pPr>
            <a:r>
              <a:rPr lang="en-US" sz="1200" b="1" i="0" u="none" strike="noStrike" dirty="0">
                <a:solidFill>
                  <a:srgbClr val="000000"/>
                </a:solidFill>
                <a:effectLst/>
              </a:rPr>
              <a:t>Asian or Asian American</a:t>
            </a:r>
            <a:r>
              <a:rPr lang="en-US" sz="12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This group has the </a:t>
            </a:r>
            <a:r>
              <a:rPr lang="en-US" sz="1200" b="1" i="0" u="none" strike="noStrike" dirty="0">
                <a:solidFill>
                  <a:srgbClr val="000000"/>
                </a:solidFill>
                <a:effectLst/>
              </a:rPr>
              <a:t>lowest representation ratio</a:t>
            </a:r>
            <a:r>
              <a:rPr lang="en-US" sz="1200" b="0" i="0" u="none" strike="noStrike" dirty="0">
                <a:solidFill>
                  <a:srgbClr val="000000"/>
                </a:solidFill>
                <a:effectLst/>
              </a:rPr>
              <a:t>, indicating that the observed number of volunteers from this demographic is </a:t>
            </a:r>
            <a:r>
              <a:rPr lang="en-US" sz="1200" b="1" i="0" u="none" strike="noStrike" dirty="0">
                <a:solidFill>
                  <a:srgbClr val="000000"/>
                </a:solidFill>
                <a:effectLst/>
              </a:rPr>
              <a:t>much lower than expected</a:t>
            </a:r>
            <a:r>
              <a:rPr lang="en-US" sz="1200" b="0" i="0" u="none" strike="noStrike" dirty="0">
                <a:solidFill>
                  <a:srgbClr val="000000"/>
                </a:solidFill>
                <a:effectLst/>
              </a:rPr>
              <a:t> based on population data. This suggests </a:t>
            </a:r>
            <a:r>
              <a:rPr lang="en-US" sz="1200" b="1" i="0" u="none" strike="noStrike" dirty="0">
                <a:solidFill>
                  <a:srgbClr val="000000"/>
                </a:solidFill>
                <a:effectLst/>
              </a:rPr>
              <a:t>underrepresentation</a:t>
            </a:r>
            <a:r>
              <a:rPr lang="en-US" sz="1200" b="0" i="0" u="none" strike="noStrike" dirty="0">
                <a:solidFill>
                  <a:srgbClr val="000000"/>
                </a:solidFill>
                <a:effectLst/>
              </a:rPr>
              <a:t> in AmeriCorps for this group.</a:t>
            </a:r>
          </a:p>
          <a:p>
            <a:pPr algn="l">
              <a:buFont typeface="+mj-lt"/>
              <a:buAutoNum type="arabicPeriod"/>
            </a:pPr>
            <a:r>
              <a:rPr lang="en-US" sz="1200" b="1" i="0" u="none" strike="noStrike" dirty="0">
                <a:solidFill>
                  <a:srgbClr val="000000"/>
                </a:solidFill>
                <a:effectLst/>
              </a:rPr>
              <a:t>Other Demographic Groups (e.g., Two or More Races, Other)</a:t>
            </a:r>
            <a:r>
              <a:rPr lang="en-US" sz="12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Groups like </a:t>
            </a:r>
            <a:r>
              <a:rPr lang="en-US" sz="1200" b="1" i="0" u="none" strike="noStrike" dirty="0">
                <a:solidFill>
                  <a:srgbClr val="000000"/>
                </a:solidFill>
                <a:effectLst/>
              </a:rPr>
              <a:t>Two or More Races</a:t>
            </a:r>
            <a:r>
              <a:rPr lang="en-US" sz="1200" b="0" i="0" u="none" strike="noStrike" dirty="0">
                <a:solidFill>
                  <a:srgbClr val="000000"/>
                </a:solidFill>
                <a:effectLst/>
              </a:rPr>
              <a:t> and </a:t>
            </a:r>
            <a:r>
              <a:rPr lang="en-US" sz="1200" b="1" i="0" u="none" strike="noStrike" dirty="0">
                <a:solidFill>
                  <a:srgbClr val="000000"/>
                </a:solidFill>
                <a:effectLst/>
              </a:rPr>
              <a:t>Other</a:t>
            </a:r>
            <a:r>
              <a:rPr lang="en-US" sz="1200" b="0" i="0" u="none" strike="noStrike" dirty="0">
                <a:solidFill>
                  <a:srgbClr val="000000"/>
                </a:solidFill>
                <a:effectLst/>
              </a:rPr>
              <a:t> have representation ratios that are closer to </a:t>
            </a:r>
            <a:r>
              <a:rPr lang="en-US" sz="1200" b="1" i="0" u="none" strike="noStrike" dirty="0">
                <a:solidFill>
                  <a:srgbClr val="000000"/>
                </a:solidFill>
                <a:effectLst/>
              </a:rPr>
              <a:t>1</a:t>
            </a:r>
            <a:r>
              <a:rPr lang="en-US" sz="1200" b="0" i="0" u="none" strike="noStrike" dirty="0">
                <a:solidFill>
                  <a:srgbClr val="000000"/>
                </a:solidFill>
                <a:effectLst/>
              </a:rPr>
              <a:t>, meaning their participation in AmeriCorps is closer to the expected level based on their population proportion.</a:t>
            </a:r>
          </a:p>
          <a:p>
            <a:endParaRPr lang="en-US" sz="1400" dirty="0"/>
          </a:p>
        </p:txBody>
      </p:sp>
      <p:sp>
        <p:nvSpPr>
          <p:cNvPr id="13" name="TextBox 12">
            <a:extLst>
              <a:ext uri="{FF2B5EF4-FFF2-40B4-BE49-F238E27FC236}">
                <a16:creationId xmlns:a16="http://schemas.microsoft.com/office/drawing/2014/main" id="{CF416115-35DA-74A9-A6E9-1BCC2D32DC19}"/>
              </a:ext>
            </a:extLst>
          </p:cNvPr>
          <p:cNvSpPr txBox="1"/>
          <p:nvPr/>
        </p:nvSpPr>
        <p:spPr>
          <a:xfrm>
            <a:off x="6190595" y="5030064"/>
            <a:ext cx="5538950" cy="2308324"/>
          </a:xfrm>
          <a:prstGeom prst="rect">
            <a:avLst/>
          </a:prstGeom>
          <a:noFill/>
        </p:spPr>
        <p:txBody>
          <a:bodyPr wrap="square" rtlCol="0">
            <a:spAutoFit/>
          </a:bodyPr>
          <a:lstStyle/>
          <a:p>
            <a:pPr algn="l"/>
            <a:r>
              <a:rPr lang="en-US" sz="1050" b="1" i="0" u="none" strike="noStrike" dirty="0">
                <a:solidFill>
                  <a:srgbClr val="000000"/>
                </a:solidFill>
                <a:effectLst/>
              </a:rPr>
              <a:t>Conclusion:</a:t>
            </a:r>
          </a:p>
          <a:p>
            <a:pPr algn="l">
              <a:buFont typeface="Arial" panose="020B0604020202020204" pitchFamily="34" charset="0"/>
              <a:buChar char="•"/>
            </a:pPr>
            <a:r>
              <a:rPr lang="en-US" sz="1050" b="0" i="0" u="none" strike="noStrike" dirty="0">
                <a:solidFill>
                  <a:srgbClr val="000000"/>
                </a:solidFill>
                <a:effectLst/>
              </a:rPr>
              <a:t>The graph highlights </a:t>
            </a:r>
            <a:r>
              <a:rPr lang="en-US" sz="1050" b="1" i="0" u="none" strike="noStrike" dirty="0">
                <a:solidFill>
                  <a:srgbClr val="000000"/>
                </a:solidFill>
                <a:effectLst/>
              </a:rPr>
              <a:t>significant overrepresentation</a:t>
            </a:r>
            <a:r>
              <a:rPr lang="en-US" sz="1050" b="0" i="0" u="none" strike="noStrike" dirty="0">
                <a:solidFill>
                  <a:srgbClr val="000000"/>
                </a:solidFill>
                <a:effectLst/>
              </a:rPr>
              <a:t> for certain groups, particularly the </a:t>
            </a:r>
            <a:r>
              <a:rPr lang="en-US" sz="1050" b="1" i="0" u="none" strike="noStrike" dirty="0">
                <a:solidFill>
                  <a:srgbClr val="000000"/>
                </a:solidFill>
                <a:effectLst/>
              </a:rPr>
              <a:t>Native Hawaiian and Other Pacific Islander</a:t>
            </a:r>
            <a:r>
              <a:rPr lang="en-US" sz="1050" b="0" i="0" u="none" strike="noStrike" dirty="0">
                <a:solidFill>
                  <a:srgbClr val="000000"/>
                </a:solidFill>
                <a:effectLst/>
              </a:rPr>
              <a:t> and </a:t>
            </a:r>
            <a:r>
              <a:rPr lang="en-US" sz="1050" b="1" i="0" u="none" strike="noStrike" dirty="0">
                <a:solidFill>
                  <a:srgbClr val="000000"/>
                </a:solidFill>
                <a:effectLst/>
              </a:rPr>
              <a:t>American Indian or Alaska Native</a:t>
            </a:r>
            <a:r>
              <a:rPr lang="en-US" sz="1050" b="0" i="0" u="none" strike="noStrike" dirty="0">
                <a:solidFill>
                  <a:srgbClr val="000000"/>
                </a:solidFill>
                <a:effectLst/>
              </a:rPr>
              <a:t> groups.</a:t>
            </a:r>
          </a:p>
          <a:p>
            <a:pPr algn="l">
              <a:buFont typeface="Arial" panose="020B0604020202020204" pitchFamily="34" charset="0"/>
              <a:buChar char="•"/>
            </a:pPr>
            <a:r>
              <a:rPr lang="en-US" sz="1050" b="1" i="0" u="none" strike="noStrike" dirty="0">
                <a:solidFill>
                  <a:srgbClr val="000000"/>
                </a:solidFill>
                <a:effectLst/>
              </a:rPr>
              <a:t>Black or African American</a:t>
            </a:r>
            <a:r>
              <a:rPr lang="en-US" sz="1050" b="0" i="0" u="none" strike="noStrike" dirty="0">
                <a:solidFill>
                  <a:srgbClr val="000000"/>
                </a:solidFill>
                <a:effectLst/>
              </a:rPr>
              <a:t> and </a:t>
            </a:r>
            <a:r>
              <a:rPr lang="en-US" sz="1050" b="1" i="0" u="none" strike="noStrike" dirty="0">
                <a:solidFill>
                  <a:srgbClr val="000000"/>
                </a:solidFill>
                <a:effectLst/>
              </a:rPr>
              <a:t>White</a:t>
            </a:r>
            <a:r>
              <a:rPr lang="en-US" sz="1050" b="0" i="0" u="none" strike="noStrike" dirty="0">
                <a:solidFill>
                  <a:srgbClr val="000000"/>
                </a:solidFill>
                <a:effectLst/>
              </a:rPr>
              <a:t> participants are also overrepresented but to a lesser extent.</a:t>
            </a:r>
          </a:p>
          <a:p>
            <a:pPr algn="l">
              <a:buFont typeface="Arial" panose="020B0604020202020204" pitchFamily="34" charset="0"/>
              <a:buChar char="•"/>
            </a:pPr>
            <a:r>
              <a:rPr lang="en-US" sz="1050" b="0" i="0" u="none" strike="noStrike" dirty="0">
                <a:solidFill>
                  <a:srgbClr val="000000"/>
                </a:solidFill>
                <a:effectLst/>
              </a:rPr>
              <a:t>On the other hand, </a:t>
            </a:r>
            <a:r>
              <a:rPr lang="en-US" sz="1050" b="1" i="0" u="none" strike="noStrike" dirty="0">
                <a:solidFill>
                  <a:srgbClr val="000000"/>
                </a:solidFill>
                <a:effectLst/>
              </a:rPr>
              <a:t>Asian or Asian American</a:t>
            </a:r>
            <a:r>
              <a:rPr lang="en-US" sz="1050" b="0" i="0" u="none" strike="noStrike" dirty="0">
                <a:solidFill>
                  <a:srgbClr val="000000"/>
                </a:solidFill>
                <a:effectLst/>
              </a:rPr>
              <a:t> individuals are </a:t>
            </a:r>
            <a:r>
              <a:rPr lang="en-US" sz="1050" b="1" i="0" u="none" strike="noStrike" dirty="0">
                <a:solidFill>
                  <a:srgbClr val="000000"/>
                </a:solidFill>
                <a:effectLst/>
              </a:rPr>
              <a:t>underrepresented</a:t>
            </a:r>
            <a:r>
              <a:rPr lang="en-US" sz="1050" b="0" i="0" u="none" strike="noStrike" dirty="0">
                <a:solidFill>
                  <a:srgbClr val="000000"/>
                </a:solidFill>
                <a:effectLst/>
              </a:rPr>
              <a:t>, meaning that their participation in AmeriCorps is lower than would be expected based on their population size.</a:t>
            </a:r>
          </a:p>
          <a:p>
            <a:pPr algn="l">
              <a:buFont typeface="Arial" panose="020B0604020202020204" pitchFamily="34" charset="0"/>
              <a:buChar char="•"/>
            </a:pPr>
            <a:r>
              <a:rPr lang="en-US" sz="1050" b="0" i="0" u="none" strike="noStrike" dirty="0">
                <a:solidFill>
                  <a:srgbClr val="000000"/>
                </a:solidFill>
                <a:effectLst/>
              </a:rPr>
              <a:t>This visualization suggests that AmeriCorps may need to focus more on outreach or engagement with </a:t>
            </a:r>
            <a:r>
              <a:rPr lang="en-US" sz="1050" b="1" i="0" u="none" strike="noStrike" dirty="0">
                <a:solidFill>
                  <a:srgbClr val="000000"/>
                </a:solidFill>
                <a:effectLst/>
              </a:rPr>
              <a:t>underrepresented groups</a:t>
            </a:r>
            <a:r>
              <a:rPr lang="en-US" sz="1050" b="0" i="0" u="none" strike="noStrike" dirty="0">
                <a:solidFill>
                  <a:srgbClr val="000000"/>
                </a:solidFill>
                <a:effectLst/>
              </a:rPr>
              <a:t>, such as </a:t>
            </a:r>
            <a:r>
              <a:rPr lang="en-US" sz="1050" b="1" i="0" u="none" strike="noStrike" dirty="0">
                <a:solidFill>
                  <a:srgbClr val="000000"/>
                </a:solidFill>
                <a:effectLst/>
              </a:rPr>
              <a:t>Asian or Asian American</a:t>
            </a:r>
            <a:r>
              <a:rPr lang="en-US" sz="1050" b="0" i="0" u="none" strike="noStrike" dirty="0">
                <a:solidFill>
                  <a:srgbClr val="000000"/>
                </a:solidFill>
                <a:effectLst/>
              </a:rPr>
              <a:t> populations.</a:t>
            </a:r>
          </a:p>
          <a:p>
            <a:pPr algn="l"/>
            <a:endParaRPr lang="en-US" sz="1050" b="0" i="0" u="none" strike="noStrike" dirty="0">
              <a:solidFill>
                <a:srgbClr val="000000"/>
              </a:solidFill>
              <a:effectLst/>
            </a:endParaRPr>
          </a:p>
          <a:p>
            <a:endParaRPr lang="en-US" dirty="0"/>
          </a:p>
        </p:txBody>
      </p:sp>
    </p:spTree>
    <p:extLst>
      <p:ext uri="{BB962C8B-B14F-4D97-AF65-F5344CB8AC3E}">
        <p14:creationId xmlns:p14="http://schemas.microsoft.com/office/powerpoint/2010/main" val="201982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E6B561-E2C5-897F-B02B-7E25638AEF7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Conclusion</a:t>
            </a:r>
          </a:p>
        </p:txBody>
      </p:sp>
      <p:graphicFrame>
        <p:nvGraphicFramePr>
          <p:cNvPr id="4" name="Content Placeholder 2">
            <a:extLst>
              <a:ext uri="{FF2B5EF4-FFF2-40B4-BE49-F238E27FC236}">
                <a16:creationId xmlns:a16="http://schemas.microsoft.com/office/drawing/2014/main" id="{C725A6F2-18C3-61A4-A401-F52E531ACBE1}"/>
              </a:ext>
            </a:extLst>
          </p:cNvPr>
          <p:cNvGraphicFramePr>
            <a:graphicFrameLocks/>
          </p:cNvGraphicFramePr>
          <p:nvPr>
            <p:extLst>
              <p:ext uri="{D42A27DB-BD31-4B8C-83A1-F6EECF244321}">
                <p14:modId xmlns:p14="http://schemas.microsoft.com/office/powerpoint/2010/main" val="645221393"/>
              </p:ext>
            </p:extLst>
          </p:nvPr>
        </p:nvGraphicFramePr>
        <p:xfrm>
          <a:off x="685798" y="2360816"/>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3346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1503</TotalTime>
  <Words>920</Words>
  <Application>Microsoft Macintosh PowerPoint</Application>
  <PresentationFormat>Widescreen</PresentationFormat>
  <Paragraphs>67</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Helvetica</vt:lpstr>
      <vt:lpstr>Office Theme</vt:lpstr>
      <vt:lpstr>   Analyzing the Demographic Diversity of Volunteer Participation in AmeriCorps </vt:lpstr>
      <vt:lpstr>What is AmeriCorps?</vt:lpstr>
      <vt:lpstr>Where is the data from?</vt:lpstr>
      <vt:lpstr>Proposed SMART Questions</vt:lpstr>
      <vt:lpstr>Important note on MSYs</vt:lpstr>
      <vt:lpstr>What is the racial composition of the volunteers?</vt:lpstr>
      <vt:lpstr>Are some racial groups more engaged in volunteer activities within specific states?  </vt:lpstr>
      <vt:lpstr>Which program offices are most effective in engaging a diverse range of participants?  </vt:lpstr>
      <vt:lpstr>How do participation rates compare between different programs within the same service region? </vt:lpstr>
      <vt:lpstr>How does the representation of different demographic groups compare to their proportions in the general population?</vt:lpstr>
      <vt:lpstr>Which groups are overrepresented or underrepresented in AmeriCorps?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Rachel Elisa</dc:creator>
  <cp:lastModifiedBy>Patra, Sayan</cp:lastModifiedBy>
  <cp:revision>9</cp:revision>
  <dcterms:created xsi:type="dcterms:W3CDTF">2024-10-18T19:37:01Z</dcterms:created>
  <dcterms:modified xsi:type="dcterms:W3CDTF">2024-10-21T05:39:45Z</dcterms:modified>
</cp:coreProperties>
</file>